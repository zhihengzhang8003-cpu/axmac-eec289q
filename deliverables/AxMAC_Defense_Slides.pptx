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Bias-Aware Approximate MAC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8DEE"/>
                </a:solidFill>
              </a:rPr>
              <a:t>for Energy-Efficient DNN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0A0"/>
                </a:solidFill>
              </a:rPr>
              <a:t>Jiabo Zhang  ·  Yuxuan Wang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A80A0"/>
                </a:solidFill>
              </a:rPr>
              <a:t>EEC 289Q — Deep Learning Hardware  |  Spring 2026  |  UC Davis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1005840" cy="822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8DEE"/>
                </a:solidFill>
              </a:rPr>
              <a:t>Baseline
Reproduction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663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0A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480560"/>
            <a:ext cx="1005840" cy="822960"/>
          </a:xfrm>
          <a:prstGeom prst="rect">
            <a:avLst/>
          </a:prstGeom>
          <a:solidFill>
            <a:srgbClr val="1A1D27"/>
          </a:solidFill>
          <a:ln w="15240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4526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5C5C"/>
                </a:solidFill>
              </a:rPr>
              <a:t>Deficiency
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663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0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480560"/>
            <a:ext cx="1005840" cy="822960"/>
          </a:xfrm>
          <a:prstGeom prst="rect">
            <a:avLst/>
          </a:prstGeom>
          <a:solidFill>
            <a:srgbClr val="1A1D27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526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ECF8E"/>
                </a:solidFill>
              </a:rPr>
              <a:t>Contribution A
Bias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663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0A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480560"/>
            <a:ext cx="1005840" cy="822960"/>
          </a:xfrm>
          <a:prstGeom prst="rect">
            <a:avLst/>
          </a:prstGeom>
          <a:solidFill>
            <a:srgbClr val="1A1D27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526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ECF8E"/>
                </a:solidFill>
              </a:rPr>
              <a:t>Contribution B
Non-uniform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663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0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480560"/>
            <a:ext cx="1005840" cy="822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526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8DEE"/>
                </a:solidFill>
              </a:rPr>
              <a:t>RTL +
FPGA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Motivation: MAC Dominates DNN Inference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0352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Energy per Operation (45 nm, 1 GHz)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80A0"/>
                </a:solidFill>
              </a:rPr>
              <a:t>INT8  multiply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0.2 pJ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80A0"/>
                </a:solidFill>
              </a:rPr>
              <a:t>INT8  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574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0.03 pJ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80A0"/>
                </a:solidFill>
              </a:rPr>
              <a:t>FP16  multiply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1.1 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80A0"/>
                </a:solidFill>
              </a:rPr>
              <a:t>FP32  multiply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5C5C"/>
                </a:solidFill>
              </a:rPr>
              <a:t>3.7 pJ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80A0"/>
                </a:solidFill>
              </a:rPr>
              <a:t>FP8   multiply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91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CF8E"/>
                </a:solidFill>
              </a:rPr>
              <a:t>~0.35 pJ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0A0"/>
                </a:solidFill>
              </a:rPr>
              <a:t>Source: Horowitz, ISSCC 2014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modern LLM runs 10¹² MACs per token.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Reducing per-MAC energy by even 20%
saves terajoules at data-center scale.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051560"/>
            <a:ext cx="603504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143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Truncated Multiplier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Drop the lowest K bits of each
integer product before accumulation.
Hardware savings:
  Partial-product matrix shrinks by
  K(2n–K)/(2n²)  ≈  25% for K=4
The problem:
  Truncation always rounds toward –∞
  Error ∈ [0, 2^K)  →  one-sided bias
  Over N MACs, bias grows like N  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Bias Accumulation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Truncation error is one-sided → grows linearly with accumulation depth N</a:t>
            </a:r>
          </a:p>
        </p:txBody>
      </p:sp>
      <p:pic>
        <p:nvPicPr>
          <p:cNvPr id="6" name="Picture 5" descr="fig1_bias_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669280" cy="36077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EE"/>
                </a:solidFill>
              </a:rPr>
              <a:t>Key numbers  (INT8, K=6, N=4096)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0A0"/>
                </a:solidFill>
              </a:rPr>
              <a:t>trunc 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002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C5C"/>
                </a:solidFill>
              </a:rPr>
              <a:t>26,617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756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0A0"/>
                </a:solidFill>
              </a:rPr>
              <a:t>round 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7568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ECF8E"/>
                </a:solidFill>
              </a:rPr>
              <a:t>−14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5117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0A0"/>
                </a:solidFill>
              </a:rPr>
              <a:t>stochastic 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55117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ECF8E"/>
                </a:solidFill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C060"/>
                </a:solidFill>
              </a:rPr>
              <a:t>trunc grows ∝ N;  round/stoch grow ∝ √N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703320"/>
            <a:ext cx="5760720" cy="274320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794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EE"/>
                </a:solidFill>
              </a:rPr>
              <a:t>Theorem 1  (Formal Proof)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7939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E[Σ εᵢ] = N · 2^(K−1)    [trunc, linear in 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3659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E[Σ δᵢ] = 0  for any N   [round, zero bias]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19379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Var[Σ] = N · (2^K)² / 12  [same for both]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8338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CF8E"/>
                </a:solidFill>
              </a:rPr>
              <a:t>round mode = free stochastic rounding (no RNG needed)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Contribution A: Error-Compensated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Add correction constant 2^(K−1) before masking — same hardware cost as truncation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84048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43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5C5C"/>
                </a:solidFill>
              </a:rPr>
              <a:t>trunc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0A0"/>
                </a:solidFill>
              </a:rPr>
              <a:t>product &amp; ~mask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14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Error ∈ [0, 2^K)
Mean ≈ 2^(K−1) &gt; 0
Linear bias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3474720" cy="1188720"/>
          </a:xfrm>
          <a:prstGeom prst="rect">
            <a:avLst/>
          </a:prstGeom>
          <a:solidFill>
            <a:srgbClr val="13151F"/>
          </a:solidFill>
          <a:ln w="15240">
            <a:solidFill>
              <a:srgbClr val="7A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>HW cost: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A80A0"/>
                </a:solidFill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051560"/>
            <a:ext cx="384048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143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CF8E"/>
                </a:solidFill>
              </a:rPr>
              <a:t>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7373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0A0"/>
                </a:solidFill>
              </a:rPr>
              <a:t>(product + 2^(K−1)) &amp; ~mask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Error ∈ [−2^(K−1), 2^(K−1))
Mean = 0  (zero bias!)
Constant add, folded into PPT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5029200"/>
            <a:ext cx="3474720" cy="1188720"/>
          </a:xfrm>
          <a:prstGeom prst="rect">
            <a:avLst/>
          </a:prstGeom>
          <a:solidFill>
            <a:srgbClr val="13151F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>HW cost: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ECF8E"/>
                </a:solidFill>
              </a:rPr>
              <a:t>≈ trunc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51560"/>
            <a:ext cx="384048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143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C060"/>
                </a:solidFill>
              </a:rPr>
              <a:t>stochastic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373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0A0"/>
                </a:solidFill>
              </a:rPr>
              <a:t>(product + rand[0,2^K)) &amp; ~mask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True zero-mean (√N growth)
Needs K-bit LFSR per MAC
→ Gupta et al., ICML 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5029200"/>
            <a:ext cx="3474720" cy="1188720"/>
          </a:xfrm>
          <a:prstGeom prst="rect">
            <a:avLst/>
          </a:prstGeom>
          <a:solidFill>
            <a:srgbClr val="13151F"/>
          </a:solidFill>
          <a:ln w="15240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5120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>HW cost: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5C5C"/>
                </a:solidFill>
              </a:rPr>
              <a:t>+LFSR RNG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RTL Implementation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Synthesizable Verilog  ·  ModelSim  ·  Quartus Prime Lite  ·  EP4CE10 FPGA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02920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RTL Modules (9 .v)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mac_unit.v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Parameterized approx MAC (K,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aca_adder.v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9933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ACA approximate adder (W)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59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mac_array.v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591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16-MAC dot-product 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80A0"/>
                </a:solidFill>
              </a:rPr>
              <a:t>  lfsr.v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7249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K-bit LFSR for stochastic 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90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mlp_top.v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0906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2-layer MLP (simulation)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mlp_top_demo.v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4564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Board wrapper + LED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8221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uart_tx/framer.v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22191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UART 115200 baud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8DEE"/>
                </a:solidFill>
              </a:rPr>
              <a:t>  drum_multiplier.v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0A0"/>
                </a:solidFill>
              </a:rPr>
              <a:t>DRUM-k unbiased multiplier (P1.1)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051560"/>
            <a:ext cx="6309360" cy="246888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143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16276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CF8E"/>
                </a:solidFill>
              </a:rPr>
              <a:t>ModelSim: 6 testbenches,  all 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0299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  200 vectors each (golden from Python)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4323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CF8E"/>
                </a:solidFill>
              </a:rPr>
              <a:t>350 pytest tests,  all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703320"/>
            <a:ext cx="6309360" cy="274320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794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Quartus Synthesis (EP4CE10)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976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Logic Elements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2976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1,769 / 10,320  (17%)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736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Timing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736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</a:rPr>
              <a:t>50 MHz  closed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1755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round vs trunc ΔLE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1755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</a:rPr>
              <a:t>+46 LE  (2.6%)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6144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stochastic ΔLE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56144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C060"/>
                </a:solidFill>
              </a:rPr>
              <a:t>+48 LE  (needs LFSR)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FPGA On-Chip Validation  —  K=6 trunc causes MISCLASSIFICATION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EP4CE10  ·  野火征途 Pro  ·  UART output  ·  2026-06-01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38912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Demo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Toy 2-layer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weights quantized to INT8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correct class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5 bitstreams programmed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via JTAG (USB-Blaster)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7822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UART @ 115200 baud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256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streams 10 × int32 logits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back to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68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read_uart.py decodes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15583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argmax on PC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051560"/>
            <a:ext cx="694944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143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On-Chip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69164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EE"/>
                </a:solidFill>
              </a:rPr>
              <a:t>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EE"/>
                </a:solidFill>
              </a:rPr>
              <a:t>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6916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EE"/>
                </a:solidFill>
              </a:rPr>
              <a:t>Board argmax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16916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EE"/>
                </a:solidFill>
              </a:rPr>
              <a:t>Correct?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075688"/>
            <a:ext cx="6903720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12140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K=0  trunc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12140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>exact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12140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12140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262432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K=2  trunc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6243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6243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26243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12724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K=4  trunc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12724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12724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312724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63016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K=4  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63016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>bias fix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63016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363016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CF8E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4087368"/>
            <a:ext cx="6903720" cy="530352"/>
          </a:xfrm>
          <a:prstGeom prst="rect">
            <a:avLst/>
          </a:prstGeom>
          <a:solidFill>
            <a:srgbClr val="1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4133087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C"/>
                </a:solidFill>
              </a:rPr>
              <a:t>K=6  trunc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133087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0A0"/>
                </a:solidFill>
              </a:rPr>
              <a:t>aggressive trunc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133087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C5C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4133087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05C5C"/>
                </a:solidFill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5074920"/>
            <a:ext cx="6949440" cy="1188720"/>
          </a:xfrm>
          <a:prstGeom prst="rect">
            <a:avLst/>
          </a:prstGeom>
          <a:solidFill>
            <a:srgbClr val="1E0A0A"/>
          </a:solidFill>
          <a:ln w="15240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516636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C"/>
                </a:solidFill>
              </a:rPr>
              <a:t>K=6 trunc:  argmax 1 → 3  (WRONG)
Matches Python sim bias +29.9  ✓
RTL faithfully implements bias accumulation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CIFAR-10 Validation — round mode is FREE accuracy preservation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SimpleCNN  ·  INT8 PTQ  ·  10,000 test images  ·  K = 0 … 6</a:t>
            </a:r>
          </a:p>
        </p:txBody>
      </p:sp>
      <p:pic>
        <p:nvPicPr>
          <p:cNvPr id="6" name="Picture 5" descr="fig5_cifar10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6858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005840"/>
            <a:ext cx="466344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Float32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1600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83.25%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0025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INT8 exact (K=0)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200253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82.94%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420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round  K=6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5420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CF8E"/>
                </a:solidFill>
              </a:rPr>
              <a:t>83.0%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443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round  K=4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29443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CF8E"/>
                </a:solidFill>
              </a:rPr>
              <a:t>83.0%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34670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round  K=2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3346703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CF8E"/>
                </a:solidFill>
              </a:rPr>
              <a:t>83.0%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86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trunc  K=4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886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60"/>
                </a:solidFill>
              </a:rPr>
              <a:t>79.5%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885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trunc  K=5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428853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C5C"/>
                </a:solidFill>
              </a:rPr>
              <a:t>56.8%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690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trunc  K=6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46908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C5C"/>
                </a:solidFill>
              </a:rPr>
              <a:t>10.8%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2303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DRUM-4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52303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A3C"/>
                </a:solidFill>
              </a:rPr>
              <a:t>82.4%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5623560"/>
            <a:ext cx="4663440" cy="777240"/>
          </a:xfrm>
          <a:prstGeom prst="rect">
            <a:avLst/>
          </a:prstGeom>
          <a:solidFill>
            <a:srgbClr val="0A1E0E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566928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</a:rPr>
              <a:t>round mode: +72.1 pp over trunc at K=6
Zero additional hardware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Hardware PPA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Quartus Prime Lite 18.1  ·  EP4CE10F17C8  ·  50 MHz constraint</a:t>
            </a:r>
          </a:p>
        </p:txBody>
      </p:sp>
      <p:pic>
        <p:nvPicPr>
          <p:cNvPr id="6" name="Picture 5" descr="fig3_ppa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6675120" cy="35942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005840"/>
            <a:ext cx="484632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600200"/>
            <a:ext cx="4663440" cy="1417320"/>
          </a:xfrm>
          <a:prstGeom prst="rect">
            <a:avLst/>
          </a:prstGeom>
          <a:solidFill>
            <a:srgbClr val="1A1D27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</a:rPr>
              <a:t>round vs trunc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30552"/>
            <a:ext cx="4389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+46 LE  (+2.6%)
≈ identical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3172968"/>
            <a:ext cx="4663440" cy="1417320"/>
          </a:xfrm>
          <a:prstGeom prst="rect">
            <a:avLst/>
          </a:prstGeom>
          <a:solidFill>
            <a:srgbClr val="1A1D27"/>
          </a:solidFill>
          <a:ln w="15240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264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5C5C"/>
                </a:solidFill>
              </a:rPr>
              <a:t>stochastic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03320"/>
            <a:ext cx="4389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+48 LE  (+LFSR)
Exceeds exact baseline!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745736"/>
            <a:ext cx="4663440" cy="1417320"/>
          </a:xfrm>
          <a:prstGeom prst="rect">
            <a:avLst/>
          </a:prstGeom>
          <a:solidFill>
            <a:srgbClr val="1A1D27"/>
          </a:solidFill>
          <a:ln w="15240">
            <a:solidFill>
              <a:srgbClr val="E0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37175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8A3C"/>
                </a:solidFill>
              </a:rPr>
              <a:t>DRUM-4 (ppa_drum_k4)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276088"/>
            <a:ext cx="4389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Quartus run pending
Expected: –LEs for mult
but +LZC+shift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57150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8E"/>
                </a:solidFill>
              </a:rPr>
              <a:t>→  round mode is the practical optimum:
   zero-mean bias + near-zero HW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Contribution B: Sensitivity-Driven Non-Uniform K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Greedy layer-wise K budget allocation  ·  cf. ALWANN (ICCAD 2019), HAWQ (ICCV 2019)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303520" cy="53949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C5C"/>
                </a:solidFill>
              </a:rPr>
              <a:t>The Uniform-K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Demo MLP layer breakdown:
  Layer 1:  784×64 = 50,176 MACs  (95.8%)
  Layer 2:  64×10  =    640 MACs  ( 1.2%)
With uniform K, the tiny layer 2
gets the same truncation depth as
the dominant layer 1.
→  Energy wasted on insensitive layers.
→  Sensitive layers truncated too deep.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051560"/>
            <a:ext cx="6035040" cy="265176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43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EE"/>
                </a:solidFill>
              </a:rPr>
              <a:t>Greedy Allocation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27632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score_i = MAC_count[i] / (sensitivity[i] × (K[i]+1))
Assign next K unit to argmax(score):
  High MACs → more savings
  High sensitivity → smaller K
  Prevents one layer dominating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840480"/>
            <a:ext cx="6035040" cy="256032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319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ECF8E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891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Same energy budget:
  Non-uniform K allocation
  reduces logit NRMSE vs uniform K
Layer 2 keeps K=0 (exact),
Layer 1 absorbs more truncation.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Future Work  →  ISCAS 2027 / IEEE Embedded Systems Letters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0A0"/>
                </a:solidFill>
              </a:rPr>
              <a:t>Three concrete directions toward a publishable extension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169164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EE"/>
                </a:solidFill>
              </a:rPr>
              <a:t>① ASIC Synthesis  (NanGate45 + OpenROAD)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7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Replace FPGA proxy with 45 nm ASIC numbers.
Precise area / power comparison: trunc vs round vs DRUM.
DRUM area advantage vs round control-logic overhead → definitive HW verdict.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71800"/>
            <a:ext cx="11612880" cy="1691640"/>
          </a:xfrm>
          <a:prstGeom prst="rect">
            <a:avLst/>
          </a:prstGeom>
          <a:solidFill>
            <a:srgbClr val="1A1D27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449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CF8E"/>
                </a:solidFill>
              </a:rPr>
              <a:t>② ResNet-20 / MobileNet-v2 on CIFAR-10 + ImageNet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38728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Extend Contribution B (non-uniform K) to real trained architectures.
Energy–accuracy Pareto front at task level (top-1 accuracy vs pJ/inference).
Baseline: ALWANN on same networks.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46320"/>
            <a:ext cx="11612880" cy="1691640"/>
          </a:xfrm>
          <a:prstGeom prst="rect">
            <a:avLst/>
          </a:prstGeom>
          <a:solidFill>
            <a:srgbClr val="1A1D27"/>
          </a:solidFill>
          <a:ln w="1524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194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C060"/>
                </a:solidFill>
              </a:rPr>
              <a:t>③ Transformer Attention Bias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13248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Q·K^T at seq_len=512: each attention score accumulates d_head=64 MACs.
Theorem 1 corollary: trunc K=4 → 512 LSB bias, exceeding INT8 range.
Experiment: GPT-2 small, compare perplexity under trunc vs round.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91695" cy="36576"/>
          </a:xfrm>
          <a:prstGeom prst="rect">
            <a:avLst/>
          </a:prstGeom>
          <a:solidFill>
            <a:srgbClr val="5B8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12880" cy="1554480"/>
          </a:xfrm>
          <a:prstGeom prst="rect">
            <a:avLst/>
          </a:prstGeom>
          <a:solidFill>
            <a:srgbClr val="1A1D27"/>
          </a:solidFill>
          <a:ln w="15240">
            <a:solidFill>
              <a:srgbClr val="E0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5C5C"/>
                </a:solidFill>
              </a:rPr>
              <a:t>Truncation bias is the dominant accuracy loss in approximate MAC inference.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Error always in [0, 2^K) → one-sided → coherent accumulation ∝ N.
Formal proof: E[bias_N] = N · 2^(K-1) for trunc,  0 for 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70632"/>
            <a:ext cx="11612880" cy="1554480"/>
          </a:xfrm>
          <a:prstGeom prst="rect">
            <a:avLst/>
          </a:prstGeom>
          <a:solidFill>
            <a:srgbClr val="1A1D27"/>
          </a:solidFill>
          <a:ln w="1524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4378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CF8E"/>
                </a:solidFill>
              </a:rPr>
              <a:t>round mode = free fix: same hardware cost, zero bias.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927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+46 LE (+2.6%) on EP4CE10.  CIFAR-10: 83.0% at K=6 vs 10.8% (trunc).
72.1 pp accuracy gap at zero hardware cost — confirmed on real FPGA.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489704"/>
            <a:ext cx="11612880" cy="1554480"/>
          </a:xfrm>
          <a:prstGeom prst="rect">
            <a:avLst/>
          </a:prstGeom>
          <a:solidFill>
            <a:srgbClr val="1A1D27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6285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EE"/>
                </a:solidFill>
              </a:rPr>
              <a:t>Non-uniform K allocation further improves energy–accuracy trade-off.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38344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Sensitivity-driven greedy allocation; same energy, lower logit NRMSE.
cf. ALWANN / HAWQ — simpler, no Hessian, directly exploits MAC counts.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172200"/>
            <a:ext cx="11612880" cy="594360"/>
          </a:xfrm>
          <a:prstGeom prst="rect">
            <a:avLst/>
          </a:prstGeom>
          <a:solidFill>
            <a:srgbClr val="13151F"/>
          </a:solidFill>
          <a:ln w="15240">
            <a:solidFill>
              <a:srgbClr val="5B8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80A0"/>
                </a:solidFill>
              </a:rPr>
              <a:t>Jiabo Zhang  ·  Yuxuan Wang  |  EEC 289Q Deep Learning Hardware  |  Spring 2026, UC Davis  |  bojzhang@ucdavis.edu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0A0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