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73" r:id="rId14"/>
    <p:sldId id="267" r:id="rId15"/>
    <p:sldId id="268" r:id="rId16"/>
    <p:sldId id="269" r:id="rId17"/>
    <p:sldId id="270" r:id="rId18"/>
    <p:sldId id="271" r:id="rId19"/>
    <p:sldId id="275" r:id="rId20"/>
    <p:sldId id="276" r:id="rId21"/>
    <p:sldId id="277" r:id="rId22"/>
  </p:sldIdLst>
  <p:sldSz cx="12192000" cy="6858000"/>
  <p:notesSz cx="6858000" cy="9144000"/>
  <p:embeddedFontLst>
    <p:embeddedFont>
      <p:font typeface="SimSun" panose="02010600030101010101" pitchFamily="2" charset="-122"/>
      <p:regular r:id="rId26"/>
    </p:embeddedFont>
    <p:embeddedFont>
      <p:font typeface="Calibri" panose="020F0502020204030204"/>
      <p:regular r:id="rId27"/>
      <p:bold r:id="rId28"/>
      <p:italic r:id="rId29"/>
      <p:boldItalic r:id="rId30"/>
    </p:embeddedFont>
    <p:embeddedFont>
      <p:font typeface="Proxima Nova Semibold" panose="02000506030000020004"/>
      <p:regular r:id="rId31"/>
    </p:embeddedFont>
    <p:embeddedFont>
      <p:font typeface="Proxima Nova" panose="02000506030000020004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font" Target="fonts/font7.fntdata"/><Relationship Id="rId31" Type="http://schemas.openxmlformats.org/officeDocument/2006/relationships/font" Target="fonts/font6.fntdata"/><Relationship Id="rId30" Type="http://schemas.openxmlformats.org/officeDocument/2006/relationships/font" Target="fonts/font5.fntdata"/><Relationship Id="rId3" Type="http://schemas.openxmlformats.org/officeDocument/2006/relationships/slide" Target="slides/slide1.xml"/><Relationship Id="rId29" Type="http://schemas.openxmlformats.org/officeDocument/2006/relationships/font" Target="fonts/font4.fntdata"/><Relationship Id="rId28" Type="http://schemas.openxmlformats.org/officeDocument/2006/relationships/font" Target="fonts/font3.fntdata"/><Relationship Id="rId27" Type="http://schemas.openxmlformats.org/officeDocument/2006/relationships/font" Target="fonts/font2.fntdata"/><Relationship Id="rId26" Type="http://schemas.openxmlformats.org/officeDocument/2006/relationships/font" Target="fonts/font1.fntdata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0" name="Google Shape;120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0" name="Google Shape;150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0" name="Google Shape;180;p1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1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1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B97"/>
              </a:buClr>
              <a:buSzPts val="2400"/>
              <a:buNone/>
              <a:defRPr sz="2400">
                <a:solidFill>
                  <a:srgbClr val="888B97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2000"/>
              <a:buNone/>
              <a:defRPr sz="2000">
                <a:solidFill>
                  <a:srgbClr val="888B97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800"/>
              <a:buNone/>
              <a:defRPr sz="1800">
                <a:solidFill>
                  <a:srgbClr val="888B97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B97"/>
              </a:buClr>
              <a:buSzPts val="1600"/>
              <a:buNone/>
              <a:defRPr sz="1600">
                <a:solidFill>
                  <a:srgbClr val="888B97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39" name="Google Shape;39;p6"/>
          <p:cNvSpPr txBox="1"/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1" name="Google Shape;41;p6"/>
          <p:cNvSpPr txBox="1"/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 panose="020F0502020204030204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B9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1173892" y="308919"/>
            <a:ext cx="4629910" cy="6944864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>
            <p:ph type="ctrTitle"/>
          </p:nvPr>
        </p:nvSpPr>
        <p:spPr>
          <a:xfrm>
            <a:off x="2509050" y="3247347"/>
            <a:ext cx="9105900" cy="10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ct val="140000"/>
              <a:buFont typeface="Proxima Nova Semibold" panose="02000506030000020004"/>
              <a:buNone/>
            </a:pPr>
            <a:r>
              <a:rPr lang="en-US" sz="4800" b="1">
                <a:solidFill>
                  <a:schemeClr val="lt1"/>
                </a:solidFill>
                <a:latin typeface="Proxima Nova Semibold" panose="02000506030000020004"/>
                <a:ea typeface="Proxima Nova Semibold" panose="02000506030000020004"/>
                <a:cs typeface="Proxima Nova Semibold" panose="02000506030000020004"/>
                <a:sym typeface="Proxima Nova Semibold" panose="02000506030000020004"/>
              </a:rPr>
              <a:t>Exploring Approximate MAC Designs for Energy-Efficient DNN Inference</a:t>
            </a:r>
            <a:endParaRPr lang="en-US" sz="4800" b="1">
              <a:solidFill>
                <a:schemeClr val="lt1"/>
              </a:solidFill>
              <a:latin typeface="Proxima Nova Semibold" panose="02000506030000020004"/>
              <a:ea typeface="Proxima Nova Semibold" panose="02000506030000020004"/>
              <a:cs typeface="Proxima Nova Semibold" panose="02000506030000020004"/>
              <a:sym typeface="Proxima Nova Semibold" panose="02000506030000020004"/>
            </a:endParaRPr>
          </a:p>
        </p:txBody>
      </p:sp>
      <p:sp>
        <p:nvSpPr>
          <p:cNvPr id="86" name="Google Shape;86;p13"/>
          <p:cNvSpPr txBox="1"/>
          <p:nvPr>
            <p:ph type="subTitle" idx="1"/>
          </p:nvPr>
        </p:nvSpPr>
        <p:spPr>
          <a:xfrm>
            <a:off x="2509050" y="5132351"/>
            <a:ext cx="8306100" cy="6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200">
                <a:solidFill>
                  <a:schemeClr val="lt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 </a:t>
            </a:r>
            <a:r>
              <a:rPr lang="en-US" sz="4620" b="1">
                <a:solidFill>
                  <a:schemeClr val="lt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Wang Yuxuan  Zhang Jiabo</a:t>
            </a:r>
            <a:endParaRPr sz="3820" b="1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2249714" y="1736738"/>
            <a:ext cx="90978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roxima Nova" panose="02000506030000020004"/>
              <a:buNone/>
            </a:pPr>
            <a:r>
              <a:rPr lang="en-US" sz="5400">
                <a:solidFill>
                  <a:schemeClr val="lt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Motivation&amp;Introduction</a:t>
            </a:r>
            <a:endParaRPr lang="en-US" sz="5400">
              <a:solidFill>
                <a:schemeClr val="lt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sp>
        <p:nvSpPr>
          <p:cNvPr id="93" name="Google Shape;93;p14"/>
          <p:cNvSpPr txBox="1"/>
          <p:nvPr>
            <p:ph type="body" idx="1"/>
          </p:nvPr>
        </p:nvSpPr>
        <p:spPr>
          <a:xfrm>
            <a:off x="2249714" y="4589463"/>
            <a:ext cx="9097736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60000"/>
          </a:bodyPr>
          <a:lstStyle/>
          <a:p>
            <a:pPr marL="0" lvl="0" indent="-1524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855"/>
              </a:buClr>
              <a:buSzPts val="2400"/>
              <a:buFont typeface="Proxima Nova" panose="02000506030000020004"/>
              <a:buChar char="•"/>
            </a:pPr>
            <a:r>
              <a:rPr lang="en-US">
                <a:solidFill>
                  <a:schemeClr val="bg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 DNN inference is dominated by multiply-accumulate (MAC) operations.</a:t>
            </a:r>
            <a:endParaRPr>
              <a:solidFill>
                <a:schemeClr val="bg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  <a:p>
            <a:pPr marL="0" lvl="0" indent="-1524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855"/>
              </a:buClr>
              <a:buSzPts val="2400"/>
              <a:buFont typeface="Proxima Nova" panose="02000506030000020004"/>
              <a:buChar char="•"/>
            </a:pPr>
            <a:r>
              <a:rPr lang="en-US">
                <a:solidFill>
                  <a:schemeClr val="bg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 Approximate MAC designs can reduce hardware cost by truncating low-significance product bits.</a:t>
            </a:r>
            <a:endParaRPr>
              <a:solidFill>
                <a:schemeClr val="bg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  <a:p>
            <a:pPr marL="0" lvl="0" indent="-1524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855"/>
              </a:buClr>
              <a:buSzPts val="2400"/>
              <a:buFont typeface="Proxima Nova" panose="02000506030000020004"/>
              <a:buChar char="•"/>
            </a:pPr>
            <a:r>
              <a:rPr lang="en-US">
                <a:solidFill>
                  <a:schemeClr val="bg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We aim to build a fair evaluation framework to measure both energy savings and accuracy loss.</a:t>
            </a:r>
            <a:endParaRPr>
              <a:solidFill>
                <a:schemeClr val="bg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B97"/>
              </a:buClr>
              <a:buSzPts val="2400"/>
              <a:buNone/>
            </a:pPr>
            <a:endParaRPr>
              <a:solidFill>
                <a:schemeClr val="bg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94" name="Google Shape;94;p14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1173892" y="308919"/>
            <a:ext cx="4629910" cy="694486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/>
          <p:nvPr>
            <p:ph type="title"/>
          </p:nvPr>
        </p:nvSpPr>
        <p:spPr>
          <a:xfrm>
            <a:off x="2567305" y="1124585"/>
            <a:ext cx="8996045" cy="2373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Proxima Nova" panose="02000506030000020004"/>
              <a:buNone/>
            </a:pPr>
            <a:r>
              <a:rPr lang="en-US" sz="5400"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Previous Work</a:t>
            </a:r>
            <a:endParaRPr lang="en-US" sz="5400"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sp>
        <p:nvSpPr>
          <p:cNvPr id="108" name="Google Shape;108;p16"/>
          <p:cNvSpPr txBox="1"/>
          <p:nvPr>
            <p:ph type="body" idx="1"/>
          </p:nvPr>
        </p:nvSpPr>
        <p:spPr>
          <a:xfrm>
            <a:off x="2423704" y="3284538"/>
            <a:ext cx="8996136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000">
                <a:sym typeface="+mn-ea"/>
              </a:rPr>
              <a:t>Han et al. proposed EIE, an efficient inference engine for compressed neural networks. Their work shows that DNN inference is both computation-intensive and memory-intensive, motivating hardware-level optimization.</a:t>
            </a:r>
            <a:endParaRPr sz="1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000">
                <a:sym typeface="+mn-ea"/>
              </a:rPr>
              <a:t>Gupta et al. studied deep learning with limited numerical precision and showed that the rounding scheme plays an important role in low-precision neural network computation.</a:t>
            </a:r>
            <a:endParaRPr sz="1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000">
                <a:sym typeface="+mn-ea"/>
              </a:rPr>
              <a:t>Wu et al. reviewed approximate multiplier designs for energy efficiency and showed that multiplier approximation can trade numerical accuracy for reductions in energy, area, and delay.</a:t>
            </a:r>
            <a:endParaRPr sz="1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000">
                <a:sym typeface="+mn-ea"/>
              </a:rPr>
              <a:t>Sayadi et al. explored layer-specific approximate multipliers for neural networks, showing that different layers can tolerate different levels of arithmetic approximation.</a:t>
            </a:r>
            <a:endParaRPr sz="1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000"/>
          </a:p>
        </p:txBody>
      </p:sp>
      <p:pic>
        <p:nvPicPr>
          <p:cNvPr id="109" name="Google Shape;109;p1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-1192890" y="101600"/>
            <a:ext cx="4865007" cy="7297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8"/>
          <p:cNvSpPr txBox="1"/>
          <p:nvPr>
            <p:ph type="title"/>
          </p:nvPr>
        </p:nvSpPr>
        <p:spPr>
          <a:xfrm>
            <a:off x="2846525" y="258402"/>
            <a:ext cx="10515600" cy="61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roxima Nova" panose="02000506030000020004"/>
              <a:buNone/>
            </a:pPr>
            <a:r>
              <a:rPr lang="en-US"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 </a:t>
            </a:r>
            <a:endParaRPr lang="en-US"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1574298" y="2"/>
            <a:ext cx="6320404" cy="9480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ChatGPT Image 2026年6月8日 22_00_29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481075" y="332775"/>
            <a:ext cx="8092724" cy="6069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275956" y="-214009"/>
            <a:ext cx="4257722" cy="6082459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TextBox 132"/>
          <p:cNvSpPr txBox="1"/>
          <p:nvPr/>
        </p:nvSpPr>
        <p:spPr>
          <a:xfrm>
            <a:off x="566928" y="493776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600" b="1">
                <a:solidFill>
                  <a:srgbClr val="002B54"/>
                </a:solidFill>
                <a:latin typeface="Arial" panose="020B0604020202020204"/>
              </a:rPr>
              <a:t>exact_mac.py</a:t>
            </a:r>
            <a:endParaRPr sz="26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566928" y="914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068B7"/>
                </a:solidFill>
                <a:latin typeface="Arial" panose="020B0604020202020204"/>
              </a:rPr>
              <a:t>Exact MAC Baseline</a:t>
            </a:r>
            <a:endParaRPr sz="1500" b="1">
              <a:solidFill>
                <a:srgbClr val="0068B7"/>
              </a:solidFill>
              <a:latin typeface="Arial" panose="020B0604020202020204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566928" y="1444752"/>
            <a:ext cx="5989320" cy="3950208"/>
          </a:xfrm>
          <a:prstGeom prst="roundRect">
            <a:avLst/>
          </a:prstGeom>
          <a:solidFill>
            <a:srgbClr val="FAFDFF"/>
          </a:solidFill>
          <a:ln w="15240"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22960" y="1673352"/>
            <a:ext cx="1234440" cy="292608"/>
          </a:xfrm>
          <a:prstGeom prst="roundRect">
            <a:avLst/>
          </a:prstGeom>
          <a:solidFill>
            <a:srgbClr val="0068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20204"/>
              </a:rPr>
              <a:t>Foundation</a:t>
            </a:r>
            <a:endParaRPr sz="105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822960" y="2057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02B54"/>
                </a:solidFill>
                <a:latin typeface="Arial" panose="020B0604020202020204"/>
              </a:rPr>
              <a:t>What this module defines</a:t>
            </a:r>
            <a:endParaRPr sz="17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68680" y="2441448"/>
            <a:ext cx="5349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1380">
                <a:solidFill>
                  <a:srgbClr val="05142D"/>
                </a:solidFill>
                <a:latin typeface="Arial" panose="020B0604020202020204"/>
              </a:defRPr>
            </a:pPr>
            <a:r>
              <a:t>• Numeric formats: IntFormat and FPFormat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380">
                <a:solidFill>
                  <a:srgbClr val="05142D"/>
                </a:solidFill>
                <a:latin typeface="Arial" panose="020B0604020202020204"/>
              </a:defRPr>
            </a:pPr>
            <a:r>
              <a:t>• INT4 / INT8 / INT16 and FP8 / FP16 / BF16 / FP32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380">
                <a:solidFill>
                  <a:srgbClr val="05142D"/>
                </a:solidFill>
                <a:latin typeface="Arial" panose="020B0604020202020204"/>
              </a:defRPr>
            </a:pPr>
            <a:r>
              <a:t>• Exact INT MAC using Booth radix-4 partial products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380">
                <a:solidFill>
                  <a:srgbClr val="05142D"/>
                </a:solidFill>
                <a:latin typeface="Arial" panose="020B0604020202020204"/>
              </a:defRPr>
            </a:pPr>
            <a:r>
              <a:t>• Exact FP MAC using sign, exponent, and mantissa paths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22960" y="40416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002B54"/>
                </a:solidFill>
                <a:latin typeface="Arial" panose="020B0604020202020204"/>
              </a:rPr>
              <a:t>Core reference path</a:t>
            </a:r>
            <a:endParaRPr sz="17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40" name="Rounded Rectangle 139"/>
          <p:cNvSpPr/>
          <p:nvPr/>
        </p:nvSpPr>
        <p:spPr>
          <a:xfrm>
            <a:off x="868680" y="4526280"/>
            <a:ext cx="1065276" cy="566928"/>
          </a:xfrm>
          <a:prstGeom prst="roundRect">
            <a:avLst/>
          </a:prstGeom>
          <a:solidFill>
            <a:srgbClr val="DDEFF7"/>
          </a:solidFill>
          <a:ln w="13970">
            <a:solidFill>
              <a:srgbClr val="0068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68B7"/>
                </a:solidFill>
                <a:latin typeface="Arial" panose="020B0604020202020204"/>
              </a:rPr>
              <a:t>a, b, acc</a:t>
            </a:r>
            <a:endParaRPr sz="1220" b="1">
              <a:solidFill>
                <a:srgbClr val="0068B7"/>
              </a:solidFill>
              <a:latin typeface="Arial" panose="020B0604020202020204"/>
            </a:endParaRPr>
          </a:p>
        </p:txBody>
      </p:sp>
      <p:cxnSp>
        <p:nvCxnSpPr>
          <p:cNvPr id="141" name="Connector 140"/>
          <p:cNvCxnSpPr/>
          <p:nvPr/>
        </p:nvCxnSpPr>
        <p:spPr>
          <a:xfrm>
            <a:off x="1933956" y="4809744"/>
            <a:ext cx="292608" cy="0"/>
          </a:xfrm>
          <a:prstGeom prst="line">
            <a:avLst/>
          </a:prstGeom>
          <a:ln w="22860">
            <a:solidFill>
              <a:srgbClr val="0068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2281428" y="4526280"/>
            <a:ext cx="1065276" cy="566928"/>
          </a:xfrm>
          <a:prstGeom prst="roundRect">
            <a:avLst/>
          </a:prstGeom>
          <a:solidFill>
            <a:srgbClr val="DDEFF7"/>
          </a:solidFill>
          <a:ln w="13970">
            <a:solidFill>
              <a:srgbClr val="0068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68B7"/>
                </a:solidFill>
                <a:latin typeface="Arial" panose="020B0604020202020204"/>
              </a:rPr>
              <a:t>a × b</a:t>
            </a:r>
            <a:endParaRPr sz="1220" b="1">
              <a:solidFill>
                <a:srgbClr val="0068B7"/>
              </a:solidFill>
              <a:latin typeface="Arial" panose="020B0604020202020204"/>
            </a:endParaRPr>
          </a:p>
        </p:txBody>
      </p:sp>
      <p:cxnSp>
        <p:nvCxnSpPr>
          <p:cNvPr id="143" name="Connector 142"/>
          <p:cNvCxnSpPr/>
          <p:nvPr/>
        </p:nvCxnSpPr>
        <p:spPr>
          <a:xfrm>
            <a:off x="3346704" y="4809744"/>
            <a:ext cx="292608" cy="0"/>
          </a:xfrm>
          <a:prstGeom prst="line">
            <a:avLst/>
          </a:prstGeom>
          <a:ln w="22860">
            <a:solidFill>
              <a:srgbClr val="0068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3694176" y="4526280"/>
            <a:ext cx="1065276" cy="566928"/>
          </a:xfrm>
          <a:prstGeom prst="roundRect">
            <a:avLst/>
          </a:prstGeom>
          <a:solidFill>
            <a:srgbClr val="DDEFF7"/>
          </a:solidFill>
          <a:ln w="13970">
            <a:solidFill>
              <a:srgbClr val="0068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68B7"/>
                </a:solidFill>
                <a:latin typeface="Arial" panose="020B0604020202020204"/>
              </a:rPr>
              <a:t>acc + product</a:t>
            </a:r>
            <a:endParaRPr sz="1220" b="1">
              <a:solidFill>
                <a:srgbClr val="0068B7"/>
              </a:solidFill>
              <a:latin typeface="Arial" panose="020B0604020202020204"/>
            </a:endParaRPr>
          </a:p>
        </p:txBody>
      </p:sp>
      <p:cxnSp>
        <p:nvCxnSpPr>
          <p:cNvPr id="145" name="Connector 144"/>
          <p:cNvCxnSpPr/>
          <p:nvPr/>
        </p:nvCxnSpPr>
        <p:spPr>
          <a:xfrm>
            <a:off x="4759452" y="4809744"/>
            <a:ext cx="292608" cy="0"/>
          </a:xfrm>
          <a:prstGeom prst="line">
            <a:avLst/>
          </a:prstGeom>
          <a:ln w="22860">
            <a:solidFill>
              <a:srgbClr val="0068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ounded Rectangle 145"/>
          <p:cNvSpPr/>
          <p:nvPr/>
        </p:nvSpPr>
        <p:spPr>
          <a:xfrm>
            <a:off x="5106924" y="4526280"/>
            <a:ext cx="1065276" cy="566928"/>
          </a:xfrm>
          <a:prstGeom prst="roundRect">
            <a:avLst/>
          </a:prstGeom>
          <a:solidFill>
            <a:srgbClr val="DDEFF7"/>
          </a:solidFill>
          <a:ln w="13970">
            <a:solidFill>
              <a:srgbClr val="0068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68B7"/>
                </a:solidFill>
                <a:latin typeface="Arial" panose="020B0604020202020204"/>
              </a:rPr>
              <a:t>exact output</a:t>
            </a:r>
            <a:endParaRPr sz="1220" b="1">
              <a:solidFill>
                <a:srgbClr val="0068B7"/>
              </a:solidFill>
              <a:latin typeface="Arial" panose="020B0604020202020204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86868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30" b="0">
                <a:solidFill>
                  <a:srgbClr val="5A6473"/>
                </a:solidFill>
                <a:latin typeface="Arial" panose="020B0604020202020204"/>
              </a:rPr>
              <a:t>Takeaway: all approximate results are compared against this exact baseline.</a:t>
            </a:r>
            <a:endParaRPr sz="1230" b="0">
              <a:solidFill>
                <a:srgbClr val="5A6473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1663548" y="1214845"/>
            <a:ext cx="6320404" cy="94806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0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TextBox 139"/>
          <p:cNvSpPr txBox="1"/>
          <p:nvPr/>
        </p:nvSpPr>
        <p:spPr>
          <a:xfrm>
            <a:off x="566928" y="502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Arial" panose="020B0604020202020204"/>
              </a:rPr>
              <a:t>approx_mac.py</a:t>
            </a:r>
            <a:endParaRPr sz="27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566928" y="9418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BF00"/>
                </a:solidFill>
                <a:latin typeface="Arial" panose="020B0604020202020204"/>
              </a:rPr>
              <a:t>Approximate MAC Core</a:t>
            </a:r>
            <a:endParaRPr sz="1500" b="1">
              <a:solidFill>
                <a:srgbClr val="FFBF00"/>
              </a:solidFill>
              <a:latin typeface="Arial" panose="020B0604020202020204"/>
            </a:endParaRPr>
          </a:p>
        </p:txBody>
      </p:sp>
      <p:sp>
        <p:nvSpPr>
          <p:cNvPr id="142" name="Rounded Rectangle 141"/>
          <p:cNvSpPr/>
          <p:nvPr/>
        </p:nvSpPr>
        <p:spPr>
          <a:xfrm>
            <a:off x="3794760" y="822960"/>
            <a:ext cx="7269480" cy="4800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C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4069080" y="1078992"/>
            <a:ext cx="1691640" cy="292608"/>
          </a:xfrm>
          <a:prstGeom prst="roundRect">
            <a:avLst/>
          </a:prstGeom>
          <a:solidFill>
            <a:srgbClr val="E66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20204"/>
              </a:rPr>
              <a:t>Approximation Knobs</a:t>
            </a:r>
            <a:endParaRPr sz="105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069080" y="14813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02B54"/>
                </a:solidFill>
                <a:latin typeface="Arial" panose="020B0604020202020204"/>
              </a:rPr>
              <a:t>What changes from exact MAC?</a:t>
            </a:r>
            <a:endParaRPr sz="18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4096512" y="1883664"/>
            <a:ext cx="6309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K-bit product truncation removes low-significance bits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Rounding modes: trunc, round, stochastic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ACA segmented adder isolates carry propagation by window W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K = 0 and W = None reproduce the exact MAC path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069080" y="35478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02B54"/>
                </a:solidFill>
                <a:latin typeface="Arial" panose="020B0604020202020204"/>
              </a:rPr>
              <a:t>Approximate MAC flow</a:t>
            </a:r>
            <a:endParaRPr sz="18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47" name="Rounded Rectangle 146"/>
          <p:cNvSpPr/>
          <p:nvPr/>
        </p:nvSpPr>
        <p:spPr>
          <a:xfrm>
            <a:off x="4096512" y="3977639"/>
            <a:ext cx="1305305" cy="566928"/>
          </a:xfrm>
          <a:prstGeom prst="roundRect">
            <a:avLst/>
          </a:prstGeom>
          <a:solidFill>
            <a:srgbClr val="FFF7DD"/>
          </a:solidFill>
          <a:ln w="13970">
            <a:solidFill>
              <a:srgbClr val="E6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E66E00"/>
                </a:solidFill>
                <a:latin typeface="Arial" panose="020B0604020202020204"/>
              </a:rPr>
              <a:t>a × b</a:t>
            </a:r>
            <a:endParaRPr sz="1220" b="1">
              <a:solidFill>
                <a:srgbClr val="E66E00"/>
              </a:solidFill>
              <a:latin typeface="Arial" panose="020B0604020202020204"/>
            </a:endParaRPr>
          </a:p>
        </p:txBody>
      </p:sp>
      <p:cxnSp>
        <p:nvCxnSpPr>
          <p:cNvPr id="148" name="Connector 147"/>
          <p:cNvCxnSpPr/>
          <p:nvPr/>
        </p:nvCxnSpPr>
        <p:spPr>
          <a:xfrm>
            <a:off x="5401818" y="4261103"/>
            <a:ext cx="292608" cy="0"/>
          </a:xfrm>
          <a:prstGeom prst="line">
            <a:avLst/>
          </a:prstGeom>
          <a:ln w="22860">
            <a:solidFill>
              <a:srgbClr val="E66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ounded Rectangle 148"/>
          <p:cNvSpPr/>
          <p:nvPr/>
        </p:nvSpPr>
        <p:spPr>
          <a:xfrm>
            <a:off x="5749290" y="3977639"/>
            <a:ext cx="1305305" cy="566928"/>
          </a:xfrm>
          <a:prstGeom prst="roundRect">
            <a:avLst/>
          </a:prstGeom>
          <a:solidFill>
            <a:srgbClr val="FFF7DD"/>
          </a:solidFill>
          <a:ln w="13970">
            <a:solidFill>
              <a:srgbClr val="E6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E66E00"/>
                </a:solidFill>
                <a:latin typeface="Arial" panose="020B0604020202020204"/>
              </a:rPr>
              <a:t>round_K(product)</a:t>
            </a:r>
            <a:endParaRPr sz="1220" b="1">
              <a:solidFill>
                <a:srgbClr val="E66E00"/>
              </a:solidFill>
              <a:latin typeface="Arial" panose="020B0604020202020204"/>
            </a:endParaRPr>
          </a:p>
        </p:txBody>
      </p:sp>
      <p:cxnSp>
        <p:nvCxnSpPr>
          <p:cNvPr id="150" name="Connector 149"/>
          <p:cNvCxnSpPr/>
          <p:nvPr/>
        </p:nvCxnSpPr>
        <p:spPr>
          <a:xfrm>
            <a:off x="7054596" y="4261103"/>
            <a:ext cx="292608" cy="0"/>
          </a:xfrm>
          <a:prstGeom prst="line">
            <a:avLst/>
          </a:prstGeom>
          <a:ln w="22860">
            <a:solidFill>
              <a:srgbClr val="E66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7402067" y="3977639"/>
            <a:ext cx="1305305" cy="566928"/>
          </a:xfrm>
          <a:prstGeom prst="roundRect">
            <a:avLst/>
          </a:prstGeom>
          <a:solidFill>
            <a:srgbClr val="FFF7DD"/>
          </a:solidFill>
          <a:ln w="13970">
            <a:solidFill>
              <a:srgbClr val="E6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E66E00"/>
                </a:solidFill>
                <a:latin typeface="Arial" panose="020B0604020202020204"/>
              </a:rPr>
              <a:t>ACA add</a:t>
            </a:r>
            <a:endParaRPr sz="1220" b="1">
              <a:solidFill>
                <a:srgbClr val="E66E00"/>
              </a:solidFill>
              <a:latin typeface="Arial" panose="020B0604020202020204"/>
            </a:endParaRPr>
          </a:p>
        </p:txBody>
      </p:sp>
      <p:cxnSp>
        <p:nvCxnSpPr>
          <p:cNvPr id="152" name="Connector 151"/>
          <p:cNvCxnSpPr/>
          <p:nvPr/>
        </p:nvCxnSpPr>
        <p:spPr>
          <a:xfrm>
            <a:off x="8707374" y="4261103"/>
            <a:ext cx="292608" cy="0"/>
          </a:xfrm>
          <a:prstGeom prst="line">
            <a:avLst/>
          </a:prstGeom>
          <a:ln w="22860">
            <a:solidFill>
              <a:srgbClr val="E66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ounded Rectangle 152"/>
          <p:cNvSpPr/>
          <p:nvPr/>
        </p:nvSpPr>
        <p:spPr>
          <a:xfrm>
            <a:off x="9054846" y="3977639"/>
            <a:ext cx="1305305" cy="566928"/>
          </a:xfrm>
          <a:prstGeom prst="roundRect">
            <a:avLst/>
          </a:prstGeom>
          <a:solidFill>
            <a:srgbClr val="FFF7DD"/>
          </a:solidFill>
          <a:ln w="13970">
            <a:solidFill>
              <a:srgbClr val="E6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E66E00"/>
                </a:solidFill>
                <a:latin typeface="Arial" panose="020B0604020202020204"/>
              </a:rPr>
              <a:t>approx output</a:t>
            </a:r>
            <a:endParaRPr sz="1220" b="1">
              <a:solidFill>
                <a:srgbClr val="E66E00"/>
              </a:solidFill>
              <a:latin typeface="Arial" panose="020B0604020202020204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4096512" y="4773168"/>
            <a:ext cx="6126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5A6473"/>
                </a:solidFill>
                <a:latin typeface="Arial" panose="020B0604020202020204"/>
              </a:rPr>
              <a:t>Takeaway: this module is the hardware approximation being evaluated.</a:t>
            </a:r>
            <a:endParaRPr sz="1250" b="0">
              <a:solidFill>
                <a:srgbClr val="5A6473"/>
              </a:solidFill>
              <a:latin typeface="Arial" panose="020B0604020202020204"/>
            </a:endParaRPr>
          </a:p>
        </p:txBody>
      </p:sp>
      <p:sp>
        <p:nvSpPr>
          <p:cNvPr id="155" name="Rounded Rectangle 154"/>
          <p:cNvSpPr/>
          <p:nvPr/>
        </p:nvSpPr>
        <p:spPr>
          <a:xfrm>
            <a:off x="658368" y="1920240"/>
            <a:ext cx="2697480" cy="2103120"/>
          </a:xfrm>
          <a:prstGeom prst="roundRect">
            <a:avLst/>
          </a:prstGeom>
          <a:solidFill>
            <a:srgbClr val="002B54"/>
          </a:solidFill>
          <a:ln w="15240">
            <a:solidFill>
              <a:srgbClr val="00B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6012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BF00"/>
                </a:solidFill>
                <a:latin typeface="Arial" panose="020B0604020202020204"/>
              </a:rPr>
              <a:t>Key idea</a:t>
            </a:r>
            <a:endParaRPr sz="2000" b="1">
              <a:solidFill>
                <a:srgbClr val="FFBF00"/>
              </a:solidFill>
              <a:latin typeface="Arial" panose="020B0604020202020204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914400" y="2788920"/>
            <a:ext cx="2148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 panose="020B0604020202020204"/>
              </a:rPr>
              <a:t>Save energy by allowing controlled arithmetic error.</a:t>
            </a:r>
            <a:endParaRPr sz="1500" b="1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 txBox="1"/>
          <p:nvPr>
            <p:ph type="body" idx="1"/>
          </p:nvPr>
        </p:nvSpPr>
        <p:spPr>
          <a:xfrm>
            <a:off x="831850" y="1333041"/>
            <a:ext cx="7805374" cy="47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B97"/>
              </a:buClr>
              <a:buSzPts val="2400"/>
              <a:buNone/>
            </a:pPr>
            <a:endParaRPr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46" name="Google Shape;146;p2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1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053943" y="-1603305"/>
            <a:ext cx="9249230" cy="924923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TextBox 147"/>
          <p:cNvSpPr txBox="1"/>
          <p:nvPr/>
        </p:nvSpPr>
        <p:spPr>
          <a:xfrm>
            <a:off x="566928" y="5029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Arial" panose="020B0604020202020204"/>
              </a:rPr>
              <a:t>dnn_inference.py</a:t>
            </a:r>
            <a:endParaRPr sz="27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566928" y="9418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00BED2"/>
                </a:solidFill>
                <a:latin typeface="Arial" panose="020B0604020202020204"/>
              </a:rPr>
              <a:t>DNN-Level Approximate Inference</a:t>
            </a:r>
            <a:endParaRPr sz="1500" b="1">
              <a:solidFill>
                <a:srgbClr val="00BED2"/>
              </a:solidFill>
              <a:latin typeface="Arial" panose="020B0604020202020204"/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658368" y="1481328"/>
            <a:ext cx="6720840" cy="4553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C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ounded Rectangle 150"/>
          <p:cNvSpPr/>
          <p:nvPr/>
        </p:nvSpPr>
        <p:spPr>
          <a:xfrm>
            <a:off x="932688" y="1737360"/>
            <a:ext cx="1600200" cy="292608"/>
          </a:xfrm>
          <a:prstGeom prst="roundRect">
            <a:avLst/>
          </a:prstGeom>
          <a:solidFill>
            <a:srgbClr val="009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18288" rIns="73152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 panose="020B0604020202020204"/>
              </a:rPr>
              <a:t>Inference Injection</a:t>
            </a:r>
            <a:endParaRPr sz="105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932688" y="21488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02B54"/>
                </a:solidFill>
                <a:latin typeface="Arial" panose="020B0604020202020204"/>
              </a:rPr>
              <a:t>From scalar MAC to neural-network layers</a:t>
            </a:r>
            <a:endParaRPr sz="18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960120" y="2560320"/>
            <a:ext cx="5897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Vectorized INT matrix multiplication and Conv2D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Each product X[i,k] × W[k,j] is truncated before accumulation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tiny_mlp_forward supports scalar K or per-layer K list</a:t>
            </a:r>
          </a:p>
          <a:p>
            <a:pPr marL="342900" indent="-171450">
              <a:lnSpc>
                <a:spcPct val="105000"/>
              </a:lnSpc>
              <a:spcAft>
                <a:spcPts val="600"/>
              </a:spcAft>
              <a:defRPr sz="1420">
                <a:solidFill>
                  <a:srgbClr val="05142D"/>
                </a:solidFill>
                <a:latin typeface="Arial" panose="020B0604020202020204"/>
              </a:defRPr>
            </a:pPr>
            <a:r>
              <a:t>• Optional PyTorch autograd wrapper for approximate linear layers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2688" y="4251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1">
                <a:solidFill>
                  <a:srgbClr val="002B54"/>
                </a:solidFill>
                <a:latin typeface="Arial" panose="020B0604020202020204"/>
              </a:rPr>
              <a:t>DNN evaluation path</a:t>
            </a:r>
            <a:endParaRPr sz="1800" b="1">
              <a:solidFill>
                <a:srgbClr val="002B54"/>
              </a:solidFill>
              <a:latin typeface="Arial" panose="020B0604020202020204"/>
            </a:endParaRPr>
          </a:p>
        </p:txBody>
      </p:sp>
      <p:sp>
        <p:nvSpPr>
          <p:cNvPr id="155" name="Rounded Rectangle 154"/>
          <p:cNvSpPr/>
          <p:nvPr/>
        </p:nvSpPr>
        <p:spPr>
          <a:xfrm>
            <a:off x="960120" y="4709160"/>
            <a:ext cx="1179576" cy="566928"/>
          </a:xfrm>
          <a:prstGeom prst="roundRect">
            <a:avLst/>
          </a:prstGeom>
          <a:solidFill>
            <a:srgbClr val="E4F8EF"/>
          </a:solidFill>
          <a:ln w="13970">
            <a:solidFill>
              <a:srgbClr val="00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916E"/>
                </a:solidFill>
                <a:latin typeface="Arial" panose="020B0604020202020204"/>
              </a:rPr>
              <a:t>input + weights</a:t>
            </a:r>
            <a:endParaRPr sz="1220" b="1">
              <a:solidFill>
                <a:srgbClr val="00916E"/>
              </a:solidFill>
              <a:latin typeface="Arial" panose="020B0604020202020204"/>
            </a:endParaRPr>
          </a:p>
        </p:txBody>
      </p:sp>
      <p:cxnSp>
        <p:nvCxnSpPr>
          <p:cNvPr id="156" name="Connector 155"/>
          <p:cNvCxnSpPr/>
          <p:nvPr/>
        </p:nvCxnSpPr>
        <p:spPr>
          <a:xfrm>
            <a:off x="2139696" y="4992624"/>
            <a:ext cx="292607" cy="0"/>
          </a:xfrm>
          <a:prstGeom prst="line">
            <a:avLst/>
          </a:prstGeom>
          <a:ln w="22860">
            <a:solidFill>
              <a:srgbClr val="009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2487168" y="4709160"/>
            <a:ext cx="1179576" cy="566928"/>
          </a:xfrm>
          <a:prstGeom prst="roundRect">
            <a:avLst/>
          </a:prstGeom>
          <a:solidFill>
            <a:srgbClr val="E4F8EF"/>
          </a:solidFill>
          <a:ln w="13970">
            <a:solidFill>
              <a:srgbClr val="00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916E"/>
                </a:solidFill>
                <a:latin typeface="Arial" panose="020B0604020202020204"/>
              </a:rPr>
              <a:t>quantize</a:t>
            </a:r>
            <a:endParaRPr sz="1220" b="1">
              <a:solidFill>
                <a:srgbClr val="00916E"/>
              </a:solidFill>
              <a:latin typeface="Arial" panose="020B0604020202020204"/>
            </a:endParaRPr>
          </a:p>
        </p:txBody>
      </p:sp>
      <p:cxnSp>
        <p:nvCxnSpPr>
          <p:cNvPr id="158" name="Connector 157"/>
          <p:cNvCxnSpPr/>
          <p:nvPr/>
        </p:nvCxnSpPr>
        <p:spPr>
          <a:xfrm>
            <a:off x="3666744" y="4992624"/>
            <a:ext cx="292608" cy="0"/>
          </a:xfrm>
          <a:prstGeom prst="line">
            <a:avLst/>
          </a:prstGeom>
          <a:ln w="22860">
            <a:solidFill>
              <a:srgbClr val="009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/>
          <p:cNvSpPr/>
          <p:nvPr/>
        </p:nvSpPr>
        <p:spPr>
          <a:xfrm>
            <a:off x="4014215" y="4709160"/>
            <a:ext cx="1179576" cy="566928"/>
          </a:xfrm>
          <a:prstGeom prst="roundRect">
            <a:avLst/>
          </a:prstGeom>
          <a:solidFill>
            <a:srgbClr val="E4F8EF"/>
          </a:solidFill>
          <a:ln w="13970">
            <a:solidFill>
              <a:srgbClr val="00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916E"/>
                </a:solidFill>
                <a:latin typeface="Arial" panose="020B0604020202020204"/>
              </a:rPr>
              <a:t>approx layer</a:t>
            </a:r>
            <a:endParaRPr sz="1220" b="1">
              <a:solidFill>
                <a:srgbClr val="00916E"/>
              </a:solidFill>
              <a:latin typeface="Arial" panose="020B0604020202020204"/>
            </a:endParaRPr>
          </a:p>
        </p:txBody>
      </p:sp>
      <p:cxnSp>
        <p:nvCxnSpPr>
          <p:cNvPr id="160" name="Connector 159"/>
          <p:cNvCxnSpPr/>
          <p:nvPr/>
        </p:nvCxnSpPr>
        <p:spPr>
          <a:xfrm>
            <a:off x="5193792" y="4992624"/>
            <a:ext cx="292608" cy="0"/>
          </a:xfrm>
          <a:prstGeom prst="line">
            <a:avLst/>
          </a:prstGeom>
          <a:ln w="22860">
            <a:solidFill>
              <a:srgbClr val="0091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5541264" y="4709160"/>
            <a:ext cx="1179576" cy="566928"/>
          </a:xfrm>
          <a:prstGeom prst="roundRect">
            <a:avLst/>
          </a:prstGeom>
          <a:solidFill>
            <a:srgbClr val="E4F8EF"/>
          </a:solidFill>
          <a:ln w="13970">
            <a:solidFill>
              <a:srgbClr val="0091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20" b="1">
                <a:solidFill>
                  <a:srgbClr val="00916E"/>
                </a:solidFill>
                <a:latin typeface="Arial" panose="020B0604020202020204"/>
              </a:rPr>
              <a:t>DNN output</a:t>
            </a:r>
            <a:endParaRPr sz="1220" b="1">
              <a:solidFill>
                <a:srgbClr val="00916E"/>
              </a:solidFill>
              <a:latin typeface="Arial" panose="020B0604020202020204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960120" y="5458968"/>
            <a:ext cx="5897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5A6473"/>
                </a:solidFill>
                <a:latin typeface="Arial" panose="020B0604020202020204"/>
              </a:rPr>
              <a:t>Takeaway: this is where MAC-level errors become DNN output errors.</a:t>
            </a:r>
            <a:endParaRPr sz="1250" b="0">
              <a:solidFill>
                <a:srgbClr val="5A6473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/>
          <p:nvPr>
            <p:ph type="title"/>
          </p:nvPr>
        </p:nvSpPr>
        <p:spPr>
          <a:xfrm>
            <a:off x="838200" y="689802"/>
            <a:ext cx="10515600" cy="61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sz="3200" b="1">
                <a:solidFill>
                  <a:srgbClr val="122B54"/>
                </a:solidFill>
                <a:latin typeface="Arial" panose="020B0604020202020204"/>
              </a:rPr>
              <a:t>What Is Pareto Analysis?</a:t>
            </a:r>
            <a:endParaRPr sz="3200" b="1">
              <a:solidFill>
                <a:srgbClr val="122B54"/>
              </a:solidFill>
              <a:latin typeface="Arial" panose="020B0604020202020204"/>
            </a:endParaRPr>
          </a:p>
        </p:txBody>
      </p:sp>
      <p:pic>
        <p:nvPicPr>
          <p:cNvPr id="153" name="Google Shape;153;p2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326880" y="182880"/>
            <a:ext cx="2377440" cy="237744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TextBox 154"/>
          <p:cNvSpPr txBox="1"/>
          <p:nvPr/>
        </p:nvSpPr>
        <p:spPr>
          <a:xfrm>
            <a:off x="841248" y="11887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1C7293"/>
                </a:solidFill>
                <a:latin typeface="Arial" panose="020B0604020202020204"/>
              </a:rPr>
              <a:t>Picking the “non-losing” designs under two conflicting goals</a:t>
            </a:r>
            <a:endParaRPr sz="1400" b="0" i="1">
              <a:solidFill>
                <a:srgbClr val="1C7293"/>
              </a:solidFill>
              <a:latin typeface="Arial" panose="020B0604020202020204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841248" y="1783080"/>
            <a:ext cx="57607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A2A2A"/>
                </a:solidFill>
                <a:latin typeface="Arial" panose="020B0604020202020204"/>
              </a:rPr>
              <a:t>• Two conflicting goals: energy (lower is better) and error (lower is better). You cannot minimize both at once.</a:t>
            </a:r>
            <a:endParaRPr sz="140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A2A2A"/>
                </a:solidFill>
                <a:latin typeface="Arial" panose="020B0604020202020204"/>
              </a:rPr>
              <a:t>• Domination: design A dominates B if A is no worse on both axes and strictly better on at least one — B is discarded.</a:t>
            </a:r>
            <a:endParaRPr sz="140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A2A2A"/>
                </a:solidFill>
                <a:latin typeface="Arial" panose="020B0604020202020204"/>
              </a:rPr>
              <a:t>• Pareto front = the boundary of “mutually non-dominated” designs left after removing all dominated ones.</a:t>
            </a:r>
            <a:endParaRPr sz="140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A2A2A"/>
                </a:solidFill>
                <a:latin typeface="Arial" panose="020B0604020202020204"/>
              </a:rPr>
              <a:t>• A general multi-objective tool, not a greedy algorithm: dominates() compares pairs, global_front() extracts the front.</a:t>
            </a:r>
            <a:endParaRPr sz="1400" b="0" i="0">
              <a:solidFill>
                <a:srgbClr val="2A2A2A"/>
              </a:solidFill>
              <a:latin typeface="Arial" panose="020B0604020202020204"/>
            </a:endParaRPr>
          </a:p>
        </p:txBody>
      </p:sp>
      <p:sp>
        <p:nvSpPr>
          <p:cNvPr id="157" name="Rounded Rectangle 156"/>
          <p:cNvSpPr/>
          <p:nvPr/>
        </p:nvSpPr>
        <p:spPr>
          <a:xfrm>
            <a:off x="6903720" y="1691640"/>
            <a:ext cx="4434840" cy="388620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D0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086600" y="18288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22B54"/>
                </a:solidFill>
                <a:latin typeface="Arial" panose="020B0604020202020204"/>
              </a:rPr>
              <a:t>Energy – Error plane (schematic)</a:t>
            </a:r>
            <a:endParaRPr sz="1300" b="1" i="0">
              <a:solidFill>
                <a:srgbClr val="122B54"/>
              </a:solidFill>
              <a:latin typeface="Arial" panose="020B0604020202020204"/>
            </a:endParaRPr>
          </a:p>
        </p:txBody>
      </p:sp>
      <p:pic>
        <p:nvPicPr>
          <p:cNvPr id="159" name="Picture 158" descr="img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212848"/>
            <a:ext cx="4135137" cy="27432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7086600" y="502920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B5B5B"/>
                </a:solidFill>
                <a:latin typeface="Arial" panose="020B0604020202020204"/>
              </a:rPr>
              <a:t>Green = Pareto front (kept)    Red = dominated (discarded)</a:t>
            </a:r>
            <a:endParaRPr sz="1100" b="0" i="0">
              <a:solidFill>
                <a:srgbClr val="5B5B5B"/>
              </a:solidFill>
              <a:latin typeface="Arial" panose="020B0604020202020204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7086600" y="5285232"/>
            <a:ext cx="4114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1C7293"/>
                </a:solidFill>
                <a:latin typeface="Arial" panose="020B0604020202020204"/>
              </a:rPr>
              <a:t>Lower-left = cheaper &amp; more accurate = better</a:t>
            </a:r>
            <a:endParaRPr sz="1100" b="0" i="1">
              <a:solidFill>
                <a:srgbClr val="1C7293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/>
        </p:nvSpPr>
        <p:spPr>
          <a:xfrm>
            <a:off x="831850" y="497640"/>
            <a:ext cx="5264150" cy="717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sz="2600" b="1">
                <a:solidFill>
                  <a:srgbClr val="FFFFFF"/>
                </a:solidFill>
                <a:latin typeface="Arial" panose="020B0604020202020204"/>
              </a:rPr>
              <a:t>Results: Energy–Error Across Precisions &amp; K</a:t>
            </a:r>
            <a:endParaRPr sz="2600" b="1">
              <a:solidFill>
                <a:srgbClr val="FFFFFF"/>
              </a:solidFill>
              <a:latin typeface="Arial" panose="020B0604020202020204"/>
            </a:endParaRPr>
          </a:p>
        </p:txBody>
      </p:sp>
      <p:pic>
        <p:nvPicPr>
          <p:cNvPr id="161" name="Google Shape;161;p23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326880" y="182880"/>
            <a:ext cx="2377440" cy="237744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TextBox 162"/>
          <p:cNvSpPr txBox="1"/>
          <p:nvPr/>
        </p:nvSpPr>
        <p:spPr>
          <a:xfrm>
            <a:off x="841248" y="11887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6EC7D6"/>
                </a:solidFill>
                <a:latin typeface="Arial" panose="020B0604020202020204"/>
              </a:rPr>
              <a:t>INT4 / INT8 / INT16 separate into distinct energy bands</a:t>
            </a:r>
            <a:endParaRPr sz="1400" b="0" i="1">
              <a:solidFill>
                <a:srgbClr val="6EC7D6"/>
              </a:solidFill>
              <a:latin typeface="Arial" panose="020B0604020202020204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8275320" y="1691640"/>
            <a:ext cx="3063240" cy="429768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D0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458200" y="18288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B54"/>
                </a:solidFill>
                <a:latin typeface="Arial" panose="020B0604020202020204"/>
              </a:rPr>
              <a:t>How to read it</a:t>
            </a:r>
            <a:endParaRPr sz="1400" b="1" i="0">
              <a:solidFill>
                <a:srgbClr val="122B54"/>
              </a:solidFill>
              <a:latin typeface="Arial" panose="020B0604020202020204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8458200" y="2240280"/>
            <a:ext cx="2743200" cy="2946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A2A2A"/>
                </a:solidFill>
                <a:latin typeface="Arial" panose="020B0604020202020204"/>
              </a:rPr>
              <a:t>• Each dot = one config (a precision + a K). Labels show the K value.</a:t>
            </a:r>
            <a:endParaRPr sz="115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700"/>
              </a:spcAft>
            </a:pPr>
            <a:r>
              <a:rPr sz="1150" b="0" i="0">
                <a:solidFill>
                  <a:srgbClr val="2A2A2A"/>
                </a:solidFill>
                <a:latin typeface="Arial" panose="020B0604020202020204"/>
              </a:rPr>
              <a:t>• Three precisions occupy different energy bands: INT4 cheapest, INT16 most accurate.</a:t>
            </a:r>
            <a:endParaRPr sz="115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700"/>
              </a:spcAft>
            </a:pPr>
            <a:r>
              <a:rPr lang="en-US" altLang="zh-CN" sz="1150" b="0" i="0">
                <a:solidFill>
                  <a:srgbClr val="2A2A2A"/>
                </a:solidFill>
                <a:latin typeface="Arial" panose="020B0604020202020204"/>
              </a:rPr>
              <a:t>The flatter the curve, the stronger the robustness (as K increases, energy decreases while the error changes only marginally).</a:t>
            </a:r>
            <a:endParaRPr lang="en-US" altLang="zh-CN" sz="115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700"/>
              </a:spcAft>
            </a:pPr>
            <a:endParaRPr lang="en-US" altLang="zh-CN" sz="1150" b="0" i="0">
              <a:solidFill>
                <a:srgbClr val="2A2A2A"/>
              </a:solidFill>
              <a:latin typeface="Arial" panose="020B0604020202020204"/>
            </a:endParaRPr>
          </a:p>
          <a:p>
            <a:pPr algn="l">
              <a:spcAft>
                <a:spcPts val="700"/>
              </a:spcAft>
            </a:pPr>
            <a:r>
              <a:rPr lang="en-US" altLang="zh-CN" sz="1150" b="0" i="0">
                <a:solidFill>
                  <a:srgbClr val="2A2A2A"/>
                </a:solidFill>
                <a:latin typeface="Arial" panose="020B0604020202020204"/>
              </a:rPr>
              <a:t>FP32</a:t>
            </a:r>
            <a:r>
              <a:rPr lang="zh-CN" altLang="en-US" sz="1150" b="0" i="0">
                <a:solidFill>
                  <a:srgbClr val="2A2A2A"/>
                </a:solidFill>
                <a:latin typeface="Arial" panose="020B0604020202020204"/>
                <a:ea typeface="SimSun" panose="02010600030101010101" pitchFamily="2" charset="-122"/>
              </a:rPr>
              <a:t>：</a:t>
            </a:r>
            <a:r>
              <a:rPr lang="en-US" altLang="zh-CN" sz="1150" b="0" i="0">
                <a:solidFill>
                  <a:srgbClr val="2A2A2A"/>
                </a:solidFill>
                <a:latin typeface="Arial" panose="020B0604020202020204"/>
                <a:ea typeface="SimSun" panose="02010600030101010101" pitchFamily="2" charset="-122"/>
              </a:rPr>
              <a:t>K=11   E= 3.2928 pJ     NRMSE=1.4077e-07</a:t>
            </a:r>
            <a:endParaRPr lang="zh-CN" altLang="en-US" sz="1150" b="0" i="0">
              <a:solidFill>
                <a:srgbClr val="2A2A2A"/>
              </a:solidFill>
              <a:latin typeface="Arial" panose="020B0604020202020204"/>
              <a:ea typeface="SimSun" panose="02010600030101010101" pitchFamily="2" charset="-122"/>
            </a:endParaRPr>
          </a:p>
        </p:txBody>
      </p:sp>
      <p:pic>
        <p:nvPicPr>
          <p:cNvPr id="2" name="图片 1" descr="axmac_pareto_no_fp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180" y="1644015"/>
            <a:ext cx="7498715" cy="44265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rtl_slide-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rtl_slide-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 txBox="1"/>
          <p:nvPr>
            <p:ph type="title"/>
          </p:nvPr>
        </p:nvSpPr>
        <p:spPr>
          <a:xfrm>
            <a:off x="838200" y="689802"/>
            <a:ext cx="10515600" cy="618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roxima Nova" panose="02000506030000020004"/>
              <a:buNone/>
            </a:pPr>
            <a:r>
              <a:rPr lang="en-US"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 </a:t>
            </a:r>
            <a:endParaRPr lang="en-US"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68" name="Google Shape;168;p24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7239673" y="-572957"/>
            <a:ext cx="85725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5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239673" y="-517873"/>
            <a:ext cx="85725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5"/>
          <p:cNvSpPr txBox="1"/>
          <p:nvPr>
            <p:ph type="body" idx="1"/>
          </p:nvPr>
        </p:nvSpPr>
        <p:spPr>
          <a:xfrm>
            <a:off x="831850" y="1366093"/>
            <a:ext cx="7827408" cy="4723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B97"/>
              </a:buClr>
              <a:buSzPts val="2400"/>
              <a:buNone/>
            </a:pPr>
          </a:p>
        </p:txBody>
      </p:sp>
      <p:sp>
        <p:nvSpPr>
          <p:cNvPr id="176" name="Google Shape;176;p25"/>
          <p:cNvSpPr txBox="1"/>
          <p:nvPr/>
        </p:nvSpPr>
        <p:spPr>
          <a:xfrm>
            <a:off x="831850" y="497640"/>
            <a:ext cx="5264150" cy="717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roxima Nova" panose="02000506030000020004"/>
              <a:buNone/>
            </a:pPr>
            <a:r>
              <a:rPr lang="en-US" sz="4400" b="0" i="0" u="none" strike="noStrike" cap="none">
                <a:solidFill>
                  <a:schemeClr val="lt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Title</a:t>
            </a:r>
            <a:endParaRPr sz="4400" b="0" i="0" u="none" strike="noStrike" cap="none">
              <a:solidFill>
                <a:schemeClr val="lt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77" name="Google Shape;177;p2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roxima Nova" panose="02000506030000020004"/>
              <a:buNone/>
            </a:pPr>
            <a:r>
              <a:rPr lang="en-US"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Title</a:t>
            </a:r>
            <a:endParaRPr lang="en-US"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83" name="Google Shape;183;p2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2388"/>
            <a:ext cx="2083340" cy="342655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6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855"/>
        </a:solidFill>
        <a:effectLst/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7"/>
          <p:cNvSpPr txBox="1"/>
          <p:nvPr>
            <p:ph type="body" idx="1"/>
          </p:nvPr>
        </p:nvSpPr>
        <p:spPr>
          <a:xfrm>
            <a:off x="831850" y="1366093"/>
            <a:ext cx="7827300" cy="4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[1] S. Han, X. Liu, H. Mao, J. Pu, A. Pedram, M. A. Horowitz, and W. J. Dally, “EIE: Efficient Inference Engine on Compressed Deep Neural Network,” in Proc. 43rd Annu. Int. Symp. Comput. Archit. (ISCA), 2016.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[2] S. Gupta, A. Agrawal, K. Gopalakrishnan, and P. Narayanan, “Deep Learning with Limited Numerical Precision,” in Proc. 32nd Int. Conf. Mach. Learn. (ICML), 2015.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[3] Y. Wu, C. Chen, W. Xiao, X. Wang, C. Wen, J. Han, X. Yin, W. Qian, and C. Zhuo, “A Survey on Approximate Multiplier Designs for Energy Efficiency: From Algorithms to Circuits,” ACM Trans. Des. Autom. Electron. Syst., 2023.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[4] L. Sayadi, M. H. Moaiyeri, and S. Timarchi, “Layer-Specific Approximate Multipliers for Energy–Precision Trade-Offs in Convolutional Neural Networks,” Sci. Rep., vol. 15, Art. no. 39482, 2025.</a:t>
            </a:r>
            <a:endParaRPr lang="en-US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88B97"/>
              </a:buClr>
              <a:buSzPct val="100000"/>
              <a:buNone/>
            </a:pPr>
          </a:p>
        </p:txBody>
      </p:sp>
      <p:sp>
        <p:nvSpPr>
          <p:cNvPr id="190" name="Google Shape;190;p27"/>
          <p:cNvSpPr txBox="1"/>
          <p:nvPr/>
        </p:nvSpPr>
        <p:spPr>
          <a:xfrm>
            <a:off x="831850" y="497640"/>
            <a:ext cx="5264150" cy="717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roxima Nova" panose="02000506030000020004"/>
              <a:buNone/>
            </a:pPr>
            <a:r>
              <a:rPr lang="en-US" sz="4400">
                <a:solidFill>
                  <a:schemeClr val="lt1"/>
                </a:solidFill>
                <a:latin typeface="Proxima Nova" panose="02000506030000020004"/>
                <a:ea typeface="Proxima Nova" panose="02000506030000020004"/>
                <a:cs typeface="Proxima Nova" panose="02000506030000020004"/>
                <a:sym typeface="Proxima Nova" panose="02000506030000020004"/>
              </a:rPr>
              <a:t>Reference</a:t>
            </a:r>
            <a:endParaRPr sz="4400" b="0" i="0" u="none" strike="noStrike" cap="none">
              <a:solidFill>
                <a:schemeClr val="lt1"/>
              </a:solidFill>
              <a:latin typeface="Proxima Nova" panose="02000506030000020004"/>
              <a:ea typeface="Proxima Nova" panose="02000506030000020004"/>
              <a:cs typeface="Proxima Nova" panose="02000506030000020004"/>
              <a:sym typeface="Proxima Nova" panose="02000506030000020004"/>
            </a:endParaRPr>
          </a:p>
        </p:txBody>
      </p:sp>
      <p:pic>
        <p:nvPicPr>
          <p:cNvPr id="191" name="Google Shape;191;p27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2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1173892" y="308919"/>
            <a:ext cx="4629910" cy="6944864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8"/>
          <p:cNvSpPr txBox="1"/>
          <p:nvPr>
            <p:ph type="ctrTitle"/>
          </p:nvPr>
        </p:nvSpPr>
        <p:spPr>
          <a:xfrm>
            <a:off x="2910367" y="2469004"/>
            <a:ext cx="7363074" cy="2431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Proxima Nova Semibold" panose="02000506030000020004"/>
              <a:buNone/>
            </a:pPr>
            <a:r>
              <a:rPr lang="en-US" sz="7200" b="1">
                <a:solidFill>
                  <a:schemeClr val="lt1"/>
                </a:solidFill>
                <a:latin typeface="Proxima Nova Semibold" panose="02000506030000020004"/>
                <a:ea typeface="Proxima Nova Semibold" panose="02000506030000020004"/>
                <a:cs typeface="Proxima Nova Semibold" panose="02000506030000020004"/>
                <a:sym typeface="Proxima Nova Semibold" panose="02000506030000020004"/>
              </a:rPr>
              <a:t>Thank You!  </a:t>
            </a:r>
            <a:endParaRPr sz="7200" b="1">
              <a:solidFill>
                <a:schemeClr val="lt1"/>
              </a:solidFill>
              <a:latin typeface="Proxima Nova Semibold" panose="02000506030000020004"/>
              <a:ea typeface="Proxima Nova Semibold" panose="02000506030000020004"/>
              <a:cs typeface="Proxima Nova Semibold" panose="02000506030000020004"/>
              <a:sym typeface="Proxima Nova Semibold" panose="02000506030000020004"/>
            </a:endParaRPr>
          </a:p>
        </p:txBody>
      </p:sp>
      <p:pic>
        <p:nvPicPr>
          <p:cNvPr id="198" name="Google Shape;198;p2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231549" y="5941789"/>
            <a:ext cx="2251259" cy="370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59436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2800" b="1" i="0">
                <a:solidFill>
                  <a:srgbClr val="0C1A40"/>
                </a:solidFill>
                <a:latin typeface="Calibri" panose="020F0502020204030204"/>
              </a:rPr>
              <a:t>Contribution A: Error-Compensated Rounding</a:t>
            </a:r>
            <a:endParaRPr sz="28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38560" cy="237744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0" i="1">
                <a:solidFill>
                  <a:srgbClr val="6B778D"/>
                </a:solidFill>
                <a:latin typeface="Calibri" panose="020F0502020204030204"/>
              </a:rPr>
              <a:t>Truncation introduces systematic bias growing O(N) — round eliminates it at near-zero hardware cost</a:t>
            </a:r>
            <a:endParaRPr sz="1200" b="0" i="1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11338560" cy="22860"/>
          </a:xfrm>
          <a:prstGeom prst="roundRect">
            <a:avLst/>
          </a:prstGeom>
          <a:solidFill>
            <a:srgbClr val="C8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70432"/>
            <a:ext cx="5394960" cy="1691640"/>
          </a:xfrm>
          <a:prstGeom prst="roundRect">
            <a:avLst>
              <a:gd name="adj" fmla="val 4000"/>
            </a:avLst>
          </a:prstGeom>
          <a:solidFill>
            <a:srgbClr val="FFEEEE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16152"/>
            <a:ext cx="512064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 panose="020F0502020204030204"/>
              </a:rPr>
              <a:t>⚠  The Deficiency: Coherent Bias Accumulation</a:t>
            </a:r>
            <a:endParaRPr sz="1200" b="1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5120640" cy="126187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0" i="0">
                <a:solidFill>
                  <a:srgbClr val="222B3E"/>
                </a:solidFill>
                <a:latin typeface="Calibri" panose="020F0502020204030204"/>
              </a:rPr>
              <a:t>Truncation maps product p → p − r,  r ∈ [0, 2^K)
Each MAC: mean error = 2^(K−1)
After N MACs:  E[bias] = N × 2^(K−1)   →  O(N), not O(√N)
Measured  INT8, K=6, N=4096:
  trunc ≈ 26,617  |  round ≈ 4,091  |  stochastic ≈ 14
  trunc vs. stochastic ratio: 1,900×</a:t>
            </a:r>
            <a:endParaRPr sz="11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1480" y="2953512"/>
            <a:ext cx="5394960" cy="2423160"/>
          </a:xfrm>
          <a:prstGeom prst="roundRect">
            <a:avLst>
              <a:gd name="adj" fmla="val 4000"/>
            </a:avLst>
          </a:prstGeom>
          <a:solidFill>
            <a:srgbClr val="EBF4FF"/>
          </a:solidFill>
          <a:ln w="25400">
            <a:solidFill>
              <a:srgbClr val="14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99232"/>
            <a:ext cx="512064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145DAA"/>
                </a:solidFill>
                <a:latin typeface="Calibri" panose="020F0502020204030204"/>
              </a:rPr>
              <a:t>Theorem 1 — Formal Bias Accumulation Bounds</a:t>
            </a:r>
            <a:endParaRPr sz="1300" b="1" i="0">
              <a:solidFill>
                <a:srgbClr val="145DAA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5120640" cy="25603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1" i="0">
                <a:solidFill>
                  <a:srgbClr val="222B3E"/>
                </a:solidFill>
                <a:latin typeface="Calibri" panose="020F0502020204030204"/>
              </a:rPr>
              <a:t>Truncation mode:</a:t>
            </a:r>
            <a:endParaRPr sz="1100" b="1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3593592"/>
            <a:ext cx="5120640" cy="310896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 panose="020F0502020204030204"/>
              </a:rPr>
              <a:t>E[bias_N]  =  N · 2^(K−1)          [linear in N]</a:t>
            </a:r>
            <a:endParaRPr sz="1300" b="1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3959352"/>
            <a:ext cx="5120640" cy="25603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1" i="0">
                <a:solidFill>
                  <a:srgbClr val="222B3E"/>
                </a:solidFill>
                <a:latin typeface="Calibri" panose="020F0502020204030204"/>
              </a:rPr>
              <a:t>Round mode:</a:t>
            </a:r>
            <a:endParaRPr sz="1100" b="1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4215384"/>
            <a:ext cx="5120640" cy="310896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 panose="020F0502020204030204"/>
              </a:rPr>
              <a:t>E[bias_N]  =  0     for any N  ✓     Var unchanged</a:t>
            </a:r>
            <a:endParaRPr sz="1300" b="1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5120640" cy="25603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1" i="0">
                <a:solidFill>
                  <a:srgbClr val="222B3E"/>
                </a:solidFill>
                <a:latin typeface="Calibri" panose="020F0502020204030204"/>
              </a:rPr>
              <a:t>Transformer Corollary:</a:t>
            </a:r>
            <a:endParaRPr sz="1100" b="1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5120640" cy="4572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1">
                <a:solidFill>
                  <a:srgbClr val="6B778D"/>
                </a:solidFill>
                <a:latin typeface="Calibri" panose="020F0502020204030204"/>
              </a:rPr>
              <a:t>d_head=64, INT8, K=4  →  512 LSB bias per attention score
Exceeds INT8 range (±127) × 4  →  softmax saturation, silent degradation</a:t>
            </a:r>
            <a:endParaRPr sz="1000" b="0" i="1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89320" y="1170432"/>
            <a:ext cx="576072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0C1A40"/>
                </a:solidFill>
                <a:latin typeface="Calibri" panose="020F0502020204030204"/>
              </a:rPr>
              <a:t>Bias at N = 4096  (INT8, K = 6)</a:t>
            </a:r>
            <a:endParaRPr sz="13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989320" y="1499616"/>
            <a:ext cx="5760720" cy="2194560"/>
          </a:xfrm>
          <a:prstGeom prst="roundRect">
            <a:avLst>
              <a:gd name="adj" fmla="val 4000"/>
            </a:avLst>
          </a:prstGeom>
          <a:solidFill>
            <a:srgbClr val="F0F4FA"/>
          </a:solidFill>
          <a:ln w="1270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2340864"/>
            <a:ext cx="5760720" cy="4572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1100" b="0" i="1">
                <a:solidFill>
                  <a:srgbClr val="AABBCC"/>
                </a:solidFill>
                <a:latin typeface="Calibri" panose="020F0502020204030204"/>
              </a:rPr>
              <a:t>[ Bias Accumulation Bar Chart
  trunc / round / stochastic  at  N = 4096 ]</a:t>
            </a:r>
            <a:endParaRPr sz="1100" b="0" i="1">
              <a:solidFill>
                <a:srgbClr val="AABBCC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89320" y="3803904"/>
            <a:ext cx="576072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0C1A40"/>
                </a:solidFill>
                <a:latin typeface="Calibri" panose="020F0502020204030204"/>
              </a:rPr>
              <a:t>3-Mode Comparison</a:t>
            </a:r>
            <a:endParaRPr sz="12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989320" y="4133087"/>
            <a:ext cx="5760720" cy="292608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4178807"/>
            <a:ext cx="10972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Mode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178040" y="4178807"/>
            <a:ext cx="12801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Bias at N=4096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503919" y="4178807"/>
            <a:ext cx="137160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HW Cost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21240" y="4178807"/>
            <a:ext cx="17373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Recommended Use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89320" y="4425696"/>
            <a:ext cx="57607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4471416"/>
            <a:ext cx="10972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trunc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178040" y="4471416"/>
            <a:ext cx="12801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DC2626"/>
                </a:solidFill>
                <a:latin typeface="Calibri" panose="020F0502020204030204"/>
              </a:rPr>
              <a:t>≈ 26,617</a:t>
            </a:r>
            <a:endParaRPr sz="1000" b="0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503919" y="4471416"/>
            <a:ext cx="137160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0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921240" y="4471416"/>
            <a:ext cx="17373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Baseline only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989320" y="4718304"/>
            <a:ext cx="57607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4764024"/>
            <a:ext cx="10972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round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178040" y="4764024"/>
            <a:ext cx="12801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≈ 0  ✓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503919" y="4764024"/>
            <a:ext cx="137160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+0.53 mW const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921240" y="4764024"/>
            <a:ext cx="17373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✓ Default choice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989320" y="5010912"/>
            <a:ext cx="576072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5056632"/>
            <a:ext cx="10972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stochastic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178040" y="5056632"/>
            <a:ext cx="12801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≈ 0  ✓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503919" y="5056632"/>
            <a:ext cx="137160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+64 LFSR regs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921240" y="5056632"/>
            <a:ext cx="17373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Max accuracy, costly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59436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2800" b="1" i="0">
                <a:solidFill>
                  <a:srgbClr val="0C1A40"/>
                </a:solidFill>
                <a:latin typeface="Calibri" panose="020F0502020204030204"/>
              </a:rPr>
              <a:t>CIFAR-10: round vs. trunc — Accuracy Collapse at K = 6</a:t>
            </a:r>
            <a:endParaRPr sz="28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38560" cy="237744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0" i="1">
                <a:solidFill>
                  <a:srgbClr val="6B778D"/>
                </a:solidFill>
                <a:latin typeface="Calibri" panose="020F0502020204030204"/>
              </a:rPr>
              <a:t>SimpleCNN · INT8 PTQ · 10,000 test images · Exact INT8 baseline: 82.94%</a:t>
            </a:r>
            <a:endParaRPr sz="1200" b="0" i="1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11338560" cy="22860"/>
          </a:xfrm>
          <a:prstGeom prst="roundRect">
            <a:avLst/>
          </a:prstGeom>
          <a:solidFill>
            <a:srgbClr val="C8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70432"/>
            <a:ext cx="3291840" cy="192024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16152"/>
            <a:ext cx="301752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 panose="020F0502020204030204"/>
              </a:rPr>
              <a:t>round   K = 6</a:t>
            </a:r>
            <a:endParaRPr sz="1300" b="1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3017520" cy="9144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5600" b="1" i="0">
                <a:solidFill>
                  <a:srgbClr val="16A34A"/>
                </a:solidFill>
                <a:latin typeface="Calibri" panose="020F0502020204030204"/>
              </a:rPr>
              <a:t>83.0%</a:t>
            </a:r>
            <a:endParaRPr sz="5600" b="1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3017520" cy="27432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1">
                <a:solidFill>
                  <a:srgbClr val="16A34A"/>
                </a:solidFill>
                <a:latin typeface="Calibri" panose="020F0502020204030204"/>
              </a:rPr>
              <a:t>Matches exact baseline  ✓</a:t>
            </a:r>
            <a:endParaRPr sz="1000" b="0" i="1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22191" y="1645920"/>
            <a:ext cx="411480" cy="64008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2000" b="1" i="0">
                <a:solidFill>
                  <a:srgbClr val="6B778D"/>
                </a:solidFill>
                <a:latin typeface="Calibri" panose="020F0502020204030204"/>
              </a:rPr>
              <a:t>vs</a:t>
            </a:r>
            <a:endParaRPr sz="2000" b="1" i="0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170432"/>
            <a:ext cx="3291840" cy="1920240"/>
          </a:xfrm>
          <a:prstGeom prst="roundRect">
            <a:avLst>
              <a:gd name="adj" fmla="val 4000"/>
            </a:avLst>
          </a:prstGeom>
          <a:solidFill>
            <a:srgbClr val="FFEEEE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16152"/>
            <a:ext cx="301752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 panose="020F0502020204030204"/>
              </a:rPr>
              <a:t>trunc   K = 6</a:t>
            </a:r>
            <a:endParaRPr sz="1300" b="1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80560" y="1508760"/>
            <a:ext cx="3017520" cy="9144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5600" b="1" i="0">
                <a:solidFill>
                  <a:srgbClr val="DC2626"/>
                </a:solidFill>
                <a:latin typeface="Calibri" panose="020F0502020204030204"/>
              </a:rPr>
              <a:t>10.83%</a:t>
            </a:r>
            <a:endParaRPr sz="5600" b="1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587752"/>
            <a:ext cx="3017520" cy="27432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1">
                <a:solidFill>
                  <a:srgbClr val="DC2626"/>
                </a:solidFill>
                <a:latin typeface="Calibri" panose="020F0502020204030204"/>
              </a:rPr>
              <a:t>≈ random guessing (10 classes)  ✗</a:t>
            </a:r>
            <a:endParaRPr sz="1000" b="0" i="1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845552" y="1170432"/>
            <a:ext cx="3840480" cy="1920240"/>
          </a:xfrm>
          <a:prstGeom prst="roundRect">
            <a:avLst>
              <a:gd name="adj" fmla="val 4000"/>
            </a:avLst>
          </a:prstGeom>
          <a:solidFill>
            <a:srgbClr val="F0EB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2" y="1216152"/>
            <a:ext cx="356616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 panose="020F0502020204030204"/>
              </a:rPr>
              <a:t>Accuracy Gap at K = 6</a:t>
            </a:r>
            <a:endParaRPr sz="1300" b="1" i="0">
              <a:solidFill>
                <a:srgbClr val="7C3AED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82712" y="1508760"/>
            <a:ext cx="3566160" cy="80467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5000" b="1" i="0">
                <a:solidFill>
                  <a:srgbClr val="7C3AED"/>
                </a:solidFill>
                <a:latin typeface="Calibri" panose="020F0502020204030204"/>
              </a:rPr>
              <a:t>72.1 pp</a:t>
            </a:r>
            <a:endParaRPr sz="5000" b="1" i="0">
              <a:solidFill>
                <a:srgbClr val="7C3AED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82712" y="2450592"/>
            <a:ext cx="3566160" cy="402336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1000" b="0" i="1">
                <a:solidFill>
                  <a:srgbClr val="7C3AED"/>
                </a:solidFill>
                <a:latin typeface="Calibri" panose="020F0502020204030204"/>
              </a:rPr>
              <a:t>Same K knob · Same hardware
Only rounding mode differs</a:t>
            </a:r>
            <a:endParaRPr sz="1000" b="0" i="1">
              <a:solidFill>
                <a:srgbClr val="7C3AED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3246120"/>
            <a:ext cx="566928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0C1A40"/>
                </a:solidFill>
                <a:latin typeface="Calibri" panose="020F0502020204030204"/>
              </a:rPr>
              <a:t>Accuracy vs. K  (round / trunc / DRUM)</a:t>
            </a:r>
            <a:endParaRPr sz="12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11480" y="3575304"/>
            <a:ext cx="5669280" cy="2057400"/>
          </a:xfrm>
          <a:prstGeom prst="roundRect">
            <a:avLst>
              <a:gd name="adj" fmla="val 4000"/>
            </a:avLst>
          </a:prstGeom>
          <a:solidFill>
            <a:srgbClr val="F0F4FA"/>
          </a:solidFill>
          <a:ln w="1270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361688"/>
            <a:ext cx="5669280" cy="4572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1100" b="0" i="1">
                <a:solidFill>
                  <a:srgbClr val="AABBCC"/>
                </a:solidFill>
                <a:latin typeface="Calibri" panose="020F0502020204030204"/>
              </a:rPr>
              <a:t>[ CIFAR-10 Accuracy vs. K
  experiments/results/figures/fig_design_space.png ]</a:t>
            </a:r>
            <a:endParaRPr sz="1100" b="0" i="1">
              <a:solidFill>
                <a:srgbClr val="AABBCC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09360" y="3246120"/>
            <a:ext cx="548640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0C1A40"/>
                </a:solidFill>
                <a:latin typeface="Calibri" panose="020F0502020204030204"/>
              </a:rPr>
              <a:t>Full Results Table</a:t>
            </a:r>
            <a:endParaRPr sz="12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309360" y="3575304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611880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K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round (%)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321040" y="361188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trunc (%)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829800" y="3611880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DRUM (%)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309360" y="3849624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886200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1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12280" y="388620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83.04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21040" y="388620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C03B00"/>
                </a:solidFill>
                <a:latin typeface="Calibri" panose="020F0502020204030204"/>
              </a:rPr>
              <a:t>82.97</a:t>
            </a:r>
            <a:endParaRPr sz="1000" b="0" i="0">
              <a:solidFill>
                <a:srgbClr val="C03B00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829800" y="3886200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—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09360" y="4123944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4160520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2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812280" y="416052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83.07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321040" y="416052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C03B00"/>
                </a:solidFill>
                <a:latin typeface="Calibri" panose="020F0502020204030204"/>
              </a:rPr>
              <a:t>82.74</a:t>
            </a:r>
            <a:endParaRPr sz="1000" b="0" i="0">
              <a:solidFill>
                <a:srgbClr val="C03B00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829800" y="4160520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—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309360" y="4398264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4434840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3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812280" y="443484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83.12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321040" y="443484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C03B00"/>
                </a:solidFill>
                <a:latin typeface="Calibri" panose="020F0502020204030204"/>
              </a:rPr>
              <a:t>82.88</a:t>
            </a:r>
            <a:endParaRPr sz="1000" b="0" i="0">
              <a:solidFill>
                <a:srgbClr val="C03B00"/>
              </a:solidFill>
              <a:latin typeface="Calibri" panose="020F050202020403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829800" y="4434840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—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309360" y="4672583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4709159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4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812280" y="470915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82.96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321040" y="470915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C03B00"/>
                </a:solidFill>
                <a:latin typeface="Calibri" panose="020F0502020204030204"/>
              </a:rPr>
              <a:t>79.54</a:t>
            </a:r>
            <a:endParaRPr sz="1000" b="0" i="0">
              <a:solidFill>
                <a:srgbClr val="C03B00"/>
              </a:solidFill>
              <a:latin typeface="Calibri" panose="020F0502020204030204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829800" y="4709159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82.36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309360" y="4946903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983479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5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812280" y="498347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83.07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21040" y="498347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C03B00"/>
                </a:solidFill>
                <a:latin typeface="Calibri" panose="020F0502020204030204"/>
              </a:rPr>
              <a:t>56.80</a:t>
            </a:r>
            <a:endParaRPr sz="1000" b="0" i="0">
              <a:solidFill>
                <a:srgbClr val="C03B00"/>
              </a:solidFill>
              <a:latin typeface="Calibri" panose="020F0502020204030204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829800" y="4983479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—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309360" y="5221223"/>
            <a:ext cx="5486400" cy="274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5257799"/>
            <a:ext cx="4114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6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812280" y="525779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83.03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321040" y="5257799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DC2626"/>
                </a:solidFill>
                <a:latin typeface="Calibri" panose="020F0502020204030204"/>
              </a:rPr>
              <a:t>10.83 ✗</a:t>
            </a:r>
            <a:endParaRPr sz="1000" b="0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9829800" y="5257799"/>
            <a:ext cx="15087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83.14 ✓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11480" y="5669280"/>
            <a:ext cx="11338560" cy="530352"/>
          </a:xfrm>
          <a:prstGeom prst="roundRect">
            <a:avLst>
              <a:gd name="adj" fmla="val 4000"/>
            </a:avLst>
          </a:prstGeom>
          <a:solidFill>
            <a:srgbClr val="0C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" y="5724144"/>
            <a:ext cx="11064240" cy="4389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 panose="020F0502020204030204"/>
              </a:rPr>
              <a:t>round achieves 83.0% at K=6 (+0.1 pp vs. exact baseline).  trunc collapses: K=5 → 56.8%,  K=6 → 10.83% (near-random).  DRUM-6 → 83.1% (competitive).  Same hardware knob; only rounding changes.</a:t>
            </a:r>
            <a:endParaRPr sz="1100" b="1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625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5F8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59436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2800" b="1" i="0">
                <a:solidFill>
                  <a:srgbClr val="0C1A40"/>
                </a:solidFill>
                <a:latin typeface="Calibri" panose="020F0502020204030204"/>
              </a:rPr>
              <a:t>Contribution B: Layer-wise Non-Uniform K Allocation</a:t>
            </a:r>
            <a:endParaRPr sz="28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1338560" cy="237744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0" i="1">
                <a:solidFill>
                  <a:srgbClr val="6B778D"/>
                </a:solidFill>
                <a:latin typeface="Calibri" panose="020F0502020204030204"/>
              </a:rPr>
              <a:t>Sensitivity-driven budget achieves up to 10.9× lower NRMSE at identical energy</a:t>
            </a:r>
            <a:endParaRPr sz="1200" b="0" i="1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11338560" cy="22860"/>
          </a:xfrm>
          <a:prstGeom prst="roundRect">
            <a:avLst/>
          </a:prstGeom>
          <a:solidFill>
            <a:srgbClr val="C8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70432"/>
            <a:ext cx="548640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 panose="020F0502020204030204"/>
              </a:rPr>
              <a:t>Why Uniform K is Suboptimal</a:t>
            </a:r>
            <a:endParaRPr sz="1300" b="1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5486400" cy="1143000"/>
          </a:xfrm>
          <a:prstGeom prst="roundRect">
            <a:avLst>
              <a:gd name="adj" fmla="val 4000"/>
            </a:avLst>
          </a:prstGeom>
          <a:solidFill>
            <a:srgbClr val="FFEEEE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5212080" cy="1042415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0" i="0">
                <a:solidFill>
                  <a:srgbClr val="222B3E"/>
                </a:solidFill>
                <a:latin typeface="Calibri" panose="020F0502020204030204"/>
              </a:rPr>
              <a:t>Demo MLP (784→256→128→64→10):
  • Layer 1:  200,704 MACs = 95.8% of total — low sensitivity
  • Output:      640 MACs — HIGH sensitivity to truncation
Uniform K truncates all layers equally → output layer over-truncated
at effectively zero energy benefit</a:t>
            </a:r>
            <a:endParaRPr sz="11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" y="2724912"/>
            <a:ext cx="548640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16A34A"/>
                </a:solidFill>
                <a:latin typeface="Calibri" panose="020F0502020204030204"/>
              </a:rPr>
              <a:t>Method: sensitivity.py</a:t>
            </a:r>
            <a:endParaRPr sz="1300" b="1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11480" y="3035808"/>
            <a:ext cx="5486400" cy="141732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81528"/>
            <a:ext cx="5212080" cy="130759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100" b="0" i="0">
                <a:solidFill>
                  <a:srgbClr val="222B3E"/>
                </a:solidFill>
                <a:latin typeface="Calibri" panose="020F0502020204030204"/>
              </a:rPr>
              <a:t>1. Probe each layer individually with K injection
2. Measure logit_nrmse → per-layer sensitivity score
3. Greedy allocator:
       score_i  =  mac_count_i  /  (sensitivity_i × (K_i + 1))
4. Increment K for highest-score (most tolerant) layer
   Output layer always preserved at K = 0</a:t>
            </a:r>
            <a:endParaRPr sz="11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11480" y="4553712"/>
            <a:ext cx="5486400" cy="8229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317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599432"/>
            <a:ext cx="5212080" cy="27432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  <a:latin typeface="Calibri" panose="020F0502020204030204"/>
              </a:rPr>
              <a:t>Key Result  (B=1, INT8, 4-layer MLP)</a:t>
            </a:r>
            <a:endParaRPr sz="1200" b="1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4873752"/>
            <a:ext cx="5212080" cy="4572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Calibri" panose="020F0502020204030204"/>
              </a:rPr>
              <a:t>Sensitivity NRMSE = 0.035   vs.   Uniform NRMSE = 0.385
→  10.9× lower NRMSE at identical energy budget</a:t>
            </a:r>
            <a:endParaRPr sz="1200" b="1" i="0">
              <a:solidFill>
                <a:srgbClr val="15803D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5504688"/>
            <a:ext cx="5486400" cy="493776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1">
                <a:solidFill>
                  <a:srgbClr val="6B778D"/>
                </a:solidFill>
                <a:latin typeface="Calibri" panose="020F0502020204030204"/>
              </a:rPr>
              <a:t>Optimal pattern at B=4:  K = [0, 1, 3, 0]
Middle layers (L2, L3) absorb budget.  Uniform allocation NRMSE barely improves as B increases.</a:t>
            </a:r>
            <a:endParaRPr sz="1000" b="0" i="1">
              <a:solidFill>
                <a:srgbClr val="6B778D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26480" y="1170432"/>
            <a:ext cx="557784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300" b="1" i="0">
                <a:solidFill>
                  <a:srgbClr val="0C1A40"/>
                </a:solidFill>
                <a:latin typeface="Calibri" panose="020F0502020204030204"/>
              </a:rPr>
              <a:t>NRMSE vs. Budget B: Uniform vs. Sensitivity</a:t>
            </a:r>
            <a:endParaRPr sz="13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126480" y="1499616"/>
            <a:ext cx="5577840" cy="2194560"/>
          </a:xfrm>
          <a:prstGeom prst="roundRect">
            <a:avLst>
              <a:gd name="adj" fmla="val 4000"/>
            </a:avLst>
          </a:prstGeom>
          <a:solidFill>
            <a:srgbClr val="F0F4FA"/>
          </a:solidFill>
          <a:ln w="1270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340864"/>
            <a:ext cx="5577840" cy="457200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ctr"/>
            <a:r>
              <a:rPr sz="1100" b="0" i="1">
                <a:solidFill>
                  <a:srgbClr val="AABBCC"/>
                </a:solidFill>
                <a:latin typeface="Calibri" panose="020F0502020204030204"/>
              </a:rPr>
              <a:t>[ K Allocation Comparison
  experiments/results/figures/fig_k_allocation_compare.png ]</a:t>
            </a:r>
            <a:endParaRPr sz="1100" b="0" i="1">
              <a:solidFill>
                <a:srgbClr val="AABBCC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26480" y="3803904"/>
            <a:ext cx="5577840" cy="29260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200" b="1" i="0">
                <a:solidFill>
                  <a:srgbClr val="0C1A40"/>
                </a:solidFill>
                <a:latin typeface="Calibri" panose="020F0502020204030204"/>
              </a:rPr>
              <a:t>Optimal K per Layer (Budget B = 4)</a:t>
            </a:r>
            <a:endParaRPr sz="12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26480" y="4133087"/>
            <a:ext cx="5577840" cy="292608"/>
          </a:xfrm>
          <a:prstGeom prst="roundRect">
            <a:avLst>
              <a:gd name="adj" fmla="val 4000"/>
            </a:avLst>
          </a:prstGeom>
          <a:solidFill>
            <a:srgbClr val="E8EEF7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4178807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Layer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680960" y="4178807"/>
            <a:ext cx="10515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MACs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778240" y="4178807"/>
            <a:ext cx="13258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Sensitivity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149840" y="4178807"/>
            <a:ext cx="8686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0C1A40"/>
                </a:solidFill>
                <a:latin typeface="Calibri" panose="020F0502020204030204"/>
              </a:rPr>
              <a:t>Opt K</a:t>
            </a:r>
            <a:endParaRPr sz="1000" b="1" i="0">
              <a:solidFill>
                <a:srgbClr val="0C1A40"/>
              </a:solidFill>
              <a:latin typeface="Calibri" panose="020F050202020403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126480" y="4425696"/>
            <a:ext cx="557784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471416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L1: 784→256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80960" y="4471416"/>
            <a:ext cx="10515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200,704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778240" y="4471416"/>
            <a:ext cx="13258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Low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149840" y="4471416"/>
            <a:ext cx="8686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0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126480" y="4718304"/>
            <a:ext cx="557784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64024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L2: 256→128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680960" y="4764024"/>
            <a:ext cx="10515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32,768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778240" y="4764024"/>
            <a:ext cx="13258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Medium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149840" y="4764024"/>
            <a:ext cx="8686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1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26480" y="5010912"/>
            <a:ext cx="557784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5056632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L3: 128→64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680960" y="5056632"/>
            <a:ext cx="10515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8,192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778240" y="5056632"/>
            <a:ext cx="13258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Medium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149840" y="5056632"/>
            <a:ext cx="8686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3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126480" y="5303520"/>
            <a:ext cx="5577840" cy="292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8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5349240"/>
            <a:ext cx="1463039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L4: 64→10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80960" y="5349240"/>
            <a:ext cx="105156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222B3E"/>
                </a:solidFill>
                <a:latin typeface="Calibri" panose="020F0502020204030204"/>
              </a:rPr>
              <a:t>640</a:t>
            </a:r>
            <a:endParaRPr sz="1000" b="0" i="0">
              <a:solidFill>
                <a:srgbClr val="222B3E"/>
              </a:solidFill>
              <a:latin typeface="Calibri" panose="020F050202020403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778240" y="5349240"/>
            <a:ext cx="13258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DC2626"/>
                </a:solidFill>
                <a:latin typeface="Calibri" panose="020F0502020204030204"/>
              </a:rPr>
              <a:t>HIGH</a:t>
            </a:r>
            <a:endParaRPr sz="1000" b="0" i="0">
              <a:solidFill>
                <a:srgbClr val="DC2626"/>
              </a:solidFill>
              <a:latin typeface="Calibri" panose="020F0502020204030204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149840" y="5349240"/>
            <a:ext cx="868680" cy="210312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0" i="0">
                <a:solidFill>
                  <a:srgbClr val="16A34A"/>
                </a:solidFill>
                <a:latin typeface="Calibri" panose="020F0502020204030204"/>
              </a:rPr>
              <a:t>0 ✓</a:t>
            </a:r>
            <a:endParaRPr sz="1000" b="0" i="0">
              <a:solidFill>
                <a:srgbClr val="16A34A"/>
              </a:solidFill>
              <a:latin typeface="Calibri" panose="020F0502020204030204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126480" y="5808599"/>
            <a:ext cx="5577840" cy="566928"/>
          </a:xfrm>
          <a:prstGeom prst="roundRect">
            <a:avLst>
              <a:gd name="adj" fmla="val 4000"/>
            </a:avLst>
          </a:prstGeom>
          <a:solidFill>
            <a:srgbClr val="0C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5935218"/>
            <a:ext cx="5394960" cy="475488"/>
          </a:xfrm>
          <a:prstGeom prst="rect">
            <a:avLst/>
          </a:prstGeom>
          <a:noFill/>
        </p:spPr>
        <p:txBody>
          <a:bodyPr wrap="square" lIns="0" tIns="12700" rIns="0" bIns="127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 panose="020F0502020204030204"/>
              </a:rPr>
              <a:t>Recommended configs:
INT8 K=1 round → 95.3% acc, −7.8% energy  |  INT8 K=2 round → 82.8% acc, −14.6% (knee point)</a:t>
            </a:r>
            <a:endParaRPr sz="1000" b="1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C Davis ">
      <a:dk1>
        <a:srgbClr val="002754"/>
      </a:dk1>
      <a:lt1>
        <a:srgbClr val="FFFFFF"/>
      </a:lt1>
      <a:dk2>
        <a:srgbClr val="44546A"/>
      </a:dk2>
      <a:lt2>
        <a:srgbClr val="DAAA01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7567</Words>
  <Application>WPS 演示</Application>
  <PresentationFormat/>
  <Paragraphs>363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Arial</vt:lpstr>
      <vt:lpstr>SimSun</vt:lpstr>
      <vt:lpstr>Wingdings</vt:lpstr>
      <vt:lpstr>Arial</vt:lpstr>
      <vt:lpstr>Calibri</vt:lpstr>
      <vt:lpstr>Proxima Nova Semibold</vt:lpstr>
      <vt:lpstr>Proxima Nova</vt:lpstr>
      <vt:lpstr>Microsoft YaHei</vt:lpstr>
      <vt:lpstr>Arial Unicode MS</vt:lpstr>
      <vt:lpstr>MS PGothic</vt:lpstr>
      <vt:lpstr>Office Theme</vt:lpstr>
      <vt:lpstr>Exploring Approximate MAC Designs for Energy-Efficient DNN Inference</vt:lpstr>
      <vt:lpstr>Motivation&amp;Introduction</vt:lpstr>
      <vt:lpstr>Previous Work</vt:lpstr>
      <vt:lpstr> </vt:lpstr>
      <vt:lpstr>PowerPoint 演示文稿</vt:lpstr>
      <vt:lpstr>PowerPoint 演示文稿</vt:lpstr>
      <vt:lpstr>PowerPoint 演示文稿</vt:lpstr>
      <vt:lpstr>What Is Pareto Analysis?</vt:lpstr>
      <vt:lpstr>PowerPoint 演示文稿</vt:lpstr>
      <vt:lpstr>PowerPoint 演示文稿</vt:lpstr>
      <vt:lpstr>PowerPoint 演示文稿</vt:lpstr>
      <vt:lpstr> </vt:lpstr>
      <vt:lpstr>PowerPoint 演示文稿</vt:lpstr>
      <vt:lpstr>Title</vt:lpstr>
      <vt:lpstr>PowerPoint 演示文稿</vt:lpstr>
      <vt:lpstr>Thank You!  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Exploring Approximate MAC Designs for Energy-Efficient DNN Inference</dc:title>
  <dc:creator/>
  <cp:lastModifiedBy>啸亦笑</cp:lastModifiedBy>
  <cp:revision>3</cp:revision>
  <dcterms:created xsi:type="dcterms:W3CDTF">2026-06-09T07:53:00Z</dcterms:created>
  <dcterms:modified xsi:type="dcterms:W3CDTF">2026-06-09T17:42:42Z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87F4F05E00467BC74FC6276A0DE723AB_42</vt:lpwstr>
  </property>
  <property fmtid="{D5CDD505-2E9C-101B-9397-08002B2CF9AE}" pid="3" name="KSOProductBuildVer">
    <vt:lpwstr>2052-12.1.0.26895</vt:lpwstr>
  </property>
</Properties>
</file>